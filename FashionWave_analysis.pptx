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8347"/>
    <a:srgbClr val="15F0F8"/>
    <a:srgbClr val="FFC900"/>
    <a:srgbClr val="3826FF"/>
    <a:srgbClr val="CAACDF"/>
    <a:srgbClr val="E1AB00"/>
    <a:srgbClr val="BAC7F6"/>
    <a:srgbClr val="C604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64"/>
  </p:normalViewPr>
  <p:slideViewPr>
    <p:cSldViewPr snapToGrid="0">
      <p:cViewPr varScale="1">
        <p:scale>
          <a:sx n="96" d="100"/>
          <a:sy n="96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7E693-51B3-E74D-A25E-E4149418CB49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FC9DA-5B9B-FD46-8E1A-9E39FCC080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2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7FC9DA-5B9B-FD46-8E1A-9E39FCC080E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14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940E0-745F-C898-4913-E4832D692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3442D-6E13-F749-9301-F7A1D1938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99A25-8A2F-03C5-C7B3-52176BDC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99874-9EB0-0E4B-5FA4-1CCD7CCD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BAF77-FAAC-1139-924C-6E10783C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18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D25F-F2AE-984A-6964-0AF0E9745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05AD8-D5A5-3977-AB8E-BA04BDA99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8B73C-4490-18A7-5484-1A837688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314A2-864C-6E93-B0B2-132EE90B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28271-75AD-2469-F25C-919D2A32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10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9FA0-7C90-C044-5959-60D48222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E58E3-2B33-E174-E24D-FD0C66FF0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28004-AE64-12B3-4FA4-B429EAC32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476CC-7B6F-0CA7-5DF5-51455939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6E5FF-70BA-BAE5-367D-96559F00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3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FD733-24BE-BD2C-268E-C3CA4C97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E25F9-9EAF-1397-BBFD-50D0ACA00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4D62E-8627-F339-1B69-475E29C7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B78D9-8ACD-7F21-BEED-3B3E8D7D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CFF09-AB03-DD71-52D3-0BA3FE71C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E3273-BCE6-F715-CA65-2D9DA81A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24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DA55-860E-5DA5-D9C6-363CFB3F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DDCB3-EEBF-1538-A995-D0A0A7A2F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E8300-6009-11CF-CAF8-6602D3E6E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EDB872-02CA-6EC3-6CBB-5684011E9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A5645-4545-0243-A0E4-F8CE1D6ED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CF261C-3AE5-A4B1-461C-71481E747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33565-1AAF-5E33-7F5E-828D0529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70E20F-1DBD-D90A-8FFA-455FA74B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2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C3F9-7D52-0113-88B8-FC4AFAF5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1D1C2-D41D-B3C4-41B1-960BD99C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5A319-5C82-217D-CDFC-3A0A2C75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6A0C8-5A66-5D02-6E61-41778CF50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87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E60B89-F480-0988-EAFE-AFEF77C3F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FD975-AB3D-FC70-F68D-E189D0F2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04DD8-C371-E375-905B-450D3FB46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97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71E0-06CB-A8B0-88E3-96BAA5C3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4F3D7-4DCD-9BCA-3E58-CB2256AB8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919A8-8FDE-BA20-9F60-793042DEE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FF082-54A7-1A0B-5CDA-598F32FD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7FFC0-21BD-9F6E-F3AC-502C05477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64672-8182-6C58-7134-36AC2243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2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A8E17-F8F6-D3DC-B745-CE30A155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465EF-BCAF-41A4-1159-DE48BDF03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5876B-1F44-66E0-CAE1-AE4D46CC0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C7115-1801-1489-4187-F7B606D8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BF575-47F8-1EAD-256C-4DFA1879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9E014-F61F-B9FA-0B40-6B3BF522A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D3FA-2A5F-E3ED-E2FE-026AAEFE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1B1B5-C913-020C-1857-D839FD03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4C664-0926-F7CE-9A14-7BD59778A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ACD53-5640-8341-5F1C-D82636256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0DAF9-B469-6592-174F-C15B7352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8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AC118-3780-9E9B-8549-18A9EBB55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6EF5C-1056-EC2F-5A7C-66AAF6E47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04A4B-E5BA-EC29-8E47-B15C25E7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9F6FB-4E44-FE9F-652E-C51FEEC26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B938D-9964-E626-9F7D-7845F7A06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11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BB4C7-EB98-9834-3DED-60F6EBCE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C13E5-5F93-4AE6-A814-6906AE947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A7341-F6AA-2F65-4AA9-16FC3D649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25A3-5E75-3940-8B35-6338403FC1C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B83ED-CE83-0DC1-42C4-C713187A7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5ED20-3E88-256A-A987-B423FD464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405DF-C3AD-C845-B102-4F7922B6C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0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7000">
              <a:schemeClr val="accent1">
                <a:lumMod val="50000"/>
              </a:schemeClr>
            </a:gs>
            <a:gs pos="100000">
              <a:schemeClr val="accent1">
                <a:lumMod val="50000"/>
              </a:schemeClr>
            </a:gs>
            <a:gs pos="100000">
              <a:srgbClr val="CAACDF"/>
            </a:gs>
            <a:gs pos="100000">
              <a:schemeClr val="accent1">
                <a:lumMod val="85000"/>
                <a:alpha val="0"/>
              </a:schemeClr>
            </a:gs>
            <a:gs pos="100000">
              <a:schemeClr val="bg1"/>
            </a:gs>
            <a:gs pos="100000">
              <a:srgbClr val="7030A0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E5886-4B9E-F034-F2E5-A865D33DA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874" y="654367"/>
            <a:ext cx="4310743" cy="461653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rgbClr val="FFC900"/>
                </a:solidFill>
                <a:latin typeface="Avenir Next" panose="020B0503020202020204" pitchFamily="34" charset="0"/>
              </a:rPr>
              <a:t>FASHIONWAVE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E93035-CC21-7512-F901-025B7A83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417" y="2751324"/>
            <a:ext cx="7254341" cy="459323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C000"/>
                </a:solidFill>
              </a:rPr>
              <a:t>Business Intelligence &amp; Strategic Insights Report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7CE4B8-CCB1-DBD3-241B-0506C9D87DCB}"/>
              </a:ext>
            </a:extLst>
          </p:cNvPr>
          <p:cNvSpPr/>
          <p:nvPr/>
        </p:nvSpPr>
        <p:spPr>
          <a:xfrm>
            <a:off x="581891" y="400438"/>
            <a:ext cx="1615045" cy="125878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 Rounded MT Bold" panose="020F0704030504030204" pitchFamily="34" charset="77"/>
              </a:rPr>
              <a:t>FW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B323D-2D6D-4986-04E0-17C80FE200B8}"/>
              </a:ext>
            </a:extLst>
          </p:cNvPr>
          <p:cNvSpPr txBox="1"/>
          <p:nvPr/>
        </p:nvSpPr>
        <p:spPr>
          <a:xfrm>
            <a:off x="2375065" y="1168692"/>
            <a:ext cx="363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Retail Sales Performance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FEB17-7E1C-1F5F-FBCC-460ABE35F634}"/>
              </a:ext>
            </a:extLst>
          </p:cNvPr>
          <p:cNvSpPr txBox="1"/>
          <p:nvPr/>
        </p:nvSpPr>
        <p:spPr>
          <a:xfrm>
            <a:off x="581891" y="1922744"/>
            <a:ext cx="48570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FY 2024-2025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46A03-9DD8-AC95-8DA2-89C182422C99}"/>
              </a:ext>
            </a:extLst>
          </p:cNvPr>
          <p:cNvSpPr txBox="1"/>
          <p:nvPr/>
        </p:nvSpPr>
        <p:spPr>
          <a:xfrm>
            <a:off x="596215" y="3542781"/>
            <a:ext cx="5057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Retail Store Sales Analysis | 50 Stores Across India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January 2025 – December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059F38-8B7E-36ED-76AA-8C9D6E255490}"/>
              </a:ext>
            </a:extLst>
          </p:cNvPr>
          <p:cNvSpPr/>
          <p:nvPr/>
        </p:nvSpPr>
        <p:spPr>
          <a:xfrm>
            <a:off x="0" y="0"/>
            <a:ext cx="253218" cy="6858000"/>
          </a:xfrm>
          <a:prstGeom prst="rect">
            <a:avLst/>
          </a:prstGeom>
          <a:solidFill>
            <a:srgbClr val="E1AB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CF625E-0BBB-1FB8-3D6F-4D09C3AEB95E}"/>
              </a:ext>
            </a:extLst>
          </p:cNvPr>
          <p:cNvSpPr/>
          <p:nvPr/>
        </p:nvSpPr>
        <p:spPr>
          <a:xfrm>
            <a:off x="711975" y="4622740"/>
            <a:ext cx="2479808" cy="1393193"/>
          </a:xfrm>
          <a:prstGeom prst="rect">
            <a:avLst/>
          </a:prstGeom>
          <a:solidFill>
            <a:schemeClr val="accent4">
              <a:lumMod val="60000"/>
              <a:lumOff val="40000"/>
              <a:alpha val="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b" anchorCtr="1"/>
          <a:lstStyle/>
          <a:p>
            <a:pPr algn="ctr"/>
            <a:r>
              <a:rPr lang="en-IN" sz="2400" b="1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₹2.13 Cr</a:t>
            </a:r>
          </a:p>
          <a:p>
            <a:pPr algn="ctr"/>
            <a:r>
              <a:rPr lang="en-IN" sz="1400" b="1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Total Revenue</a:t>
            </a:r>
          </a:p>
          <a:p>
            <a:pPr algn="ctr"/>
            <a:endParaRPr lang="en-IN" sz="2400" b="1" dirty="0">
              <a:solidFill>
                <a:srgbClr val="FFC000"/>
              </a:solidFill>
              <a:highlight>
                <a:srgbClr val="FFC900"/>
              </a:highlight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7CBD5C-41D6-07E0-02CD-BE053E93C3E5}"/>
              </a:ext>
            </a:extLst>
          </p:cNvPr>
          <p:cNvSpPr/>
          <p:nvPr/>
        </p:nvSpPr>
        <p:spPr>
          <a:xfrm>
            <a:off x="3644631" y="4640873"/>
            <a:ext cx="2256995" cy="1393193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85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  <a:gs pos="100000">
                <a:srgbClr val="7030A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216000" rtlCol="0" anchor="ctr" anchorCtr="1"/>
          <a:lstStyle/>
          <a:p>
            <a:pPr algn="ctr"/>
            <a:r>
              <a:rPr lang="en-IN" sz="2400" b="1" dirty="0">
                <a:solidFill>
                  <a:srgbClr val="FFC000"/>
                </a:solidFill>
                <a:latin typeface="Arial" panose="020B0604020202020204" pitchFamily="34" charset="0"/>
              </a:rPr>
              <a:t>₹56.58 Lakh</a:t>
            </a:r>
          </a:p>
          <a:p>
            <a:pPr algn="ctr"/>
            <a:r>
              <a:rPr lang="en-IN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Profit Generated</a:t>
            </a:r>
            <a:endParaRPr lang="en-US" sz="14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01E2D-0724-9AE1-F8C6-0278B9C2774D}"/>
              </a:ext>
            </a:extLst>
          </p:cNvPr>
          <p:cNvSpPr/>
          <p:nvPr/>
        </p:nvSpPr>
        <p:spPr>
          <a:xfrm>
            <a:off x="6354474" y="4659006"/>
            <a:ext cx="2256995" cy="1380886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85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  <a:gs pos="100000">
                <a:srgbClr val="7030A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216000" rtlCol="0" anchor="ctr" anchorCtr="1"/>
          <a:lstStyle/>
          <a:p>
            <a:pPr algn="ctr"/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</a:rPr>
              <a:t>26.57%</a:t>
            </a:r>
          </a:p>
          <a:p>
            <a:pPr algn="ctr"/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Overall Profit Margin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74292D-66DB-FDD4-B641-3FF6DDEA26CB}"/>
              </a:ext>
            </a:extLst>
          </p:cNvPr>
          <p:cNvSpPr/>
          <p:nvPr/>
        </p:nvSpPr>
        <p:spPr>
          <a:xfrm>
            <a:off x="9064317" y="4664832"/>
            <a:ext cx="2226074" cy="1380886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85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  <a:gs pos="100000">
                <a:srgbClr val="7030A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216000" rtlCol="0" anchor="ctr" anchorCtr="1"/>
          <a:lstStyle/>
          <a:p>
            <a:pPr algn="ctr"/>
            <a:r>
              <a:rPr lang="en-IN" sz="2400" b="1" dirty="0">
                <a:solidFill>
                  <a:srgbClr val="FFC000"/>
                </a:solidFill>
                <a:latin typeface="Arial" panose="020B0604020202020204" pitchFamily="34" charset="0"/>
              </a:rPr>
              <a:t>50 Stores  </a:t>
            </a:r>
            <a:r>
              <a:rPr lang="en-IN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Stores Covered</a:t>
            </a:r>
            <a:endParaRPr lang="en-US" sz="14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E84A5-C03D-CFA9-F2AC-6126F949D1E1}"/>
              </a:ext>
            </a:extLst>
          </p:cNvPr>
          <p:cNvSpPr txBox="1"/>
          <p:nvPr/>
        </p:nvSpPr>
        <p:spPr>
          <a:xfrm>
            <a:off x="7961942" y="6410929"/>
            <a:ext cx="4050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2">
                    <a:lumMod val="90000"/>
                  </a:schemeClr>
                </a:solidFill>
              </a:rPr>
              <a:t>Prepared by: Aditya Tripathi | FashionWave Analytics</a:t>
            </a:r>
            <a:endParaRPr 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9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B0B9D0-A512-7F47-C3FF-E4AE2FAC8B36}"/>
              </a:ext>
            </a:extLst>
          </p:cNvPr>
          <p:cNvSpPr/>
          <p:nvPr/>
        </p:nvSpPr>
        <p:spPr>
          <a:xfrm>
            <a:off x="0" y="0"/>
            <a:ext cx="12192000" cy="103051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latin typeface="Baloo Bhaina 2 SemiBold" panose="03080502040302020200" pitchFamily="66" charset="77"/>
              <a:cs typeface="Baloo Bhaina 2 SemiBold" panose="03080502040302020200" pitchFamily="66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741C2-E023-3333-6CBF-A431187B568C}"/>
              </a:ext>
            </a:extLst>
          </p:cNvPr>
          <p:cNvSpPr txBox="1"/>
          <p:nvPr/>
        </p:nvSpPr>
        <p:spPr>
          <a:xfrm>
            <a:off x="319312" y="222869"/>
            <a:ext cx="4192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Baloo Bhaina 2" panose="03080502040302020200" pitchFamily="66" charset="77"/>
                <a:cs typeface="Baloo Bhaina 2" panose="03080502040302020200" pitchFamily="66" charset="77"/>
              </a:rPr>
              <a:t>PROJECT  OBJECTIVES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C735FFA-2055-A1F2-2395-251175375095}"/>
              </a:ext>
            </a:extLst>
          </p:cNvPr>
          <p:cNvGrpSpPr/>
          <p:nvPr/>
        </p:nvGrpSpPr>
        <p:grpSpPr>
          <a:xfrm>
            <a:off x="566058" y="1271526"/>
            <a:ext cx="3193143" cy="4064000"/>
            <a:chOff x="566058" y="1271526"/>
            <a:chExt cx="3193143" cy="4064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D83F6F1-975C-EBDF-6A44-8254C6012B94}"/>
                </a:ext>
              </a:extLst>
            </p:cNvPr>
            <p:cNvSpPr/>
            <p:nvPr/>
          </p:nvSpPr>
          <p:spPr>
            <a:xfrm>
              <a:off x="566058" y="1271526"/>
              <a:ext cx="3193143" cy="4064000"/>
            </a:xfrm>
            <a:prstGeom prst="roundRect">
              <a:avLst>
                <a:gd name="adj" fmla="val 4691"/>
              </a:avLst>
            </a:prstGeom>
            <a:solidFill>
              <a:srgbClr val="BAC7F6">
                <a:alpha val="55000"/>
              </a:srgb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404393" dist="38100" dir="4260000" sx="104728" sy="104728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A6C637A-3B8C-9906-943A-25D0E502F4F6}"/>
                </a:ext>
              </a:extLst>
            </p:cNvPr>
            <p:cNvSpPr/>
            <p:nvPr/>
          </p:nvSpPr>
          <p:spPr>
            <a:xfrm>
              <a:off x="566058" y="1271526"/>
              <a:ext cx="3193143" cy="16538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A77E37-878F-79C3-85A9-6FBB1FE1D5DF}"/>
              </a:ext>
            </a:extLst>
          </p:cNvPr>
          <p:cNvGrpSpPr/>
          <p:nvPr/>
        </p:nvGrpSpPr>
        <p:grpSpPr>
          <a:xfrm>
            <a:off x="4550228" y="1271526"/>
            <a:ext cx="3193143" cy="4073360"/>
            <a:chOff x="4550228" y="1271526"/>
            <a:chExt cx="3193143" cy="407336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36CED518-DAF8-6C4C-9D31-A1BBA708D2F1}"/>
                </a:ext>
              </a:extLst>
            </p:cNvPr>
            <p:cNvSpPr/>
            <p:nvPr/>
          </p:nvSpPr>
          <p:spPr>
            <a:xfrm>
              <a:off x="4550228" y="1280886"/>
              <a:ext cx="3193143" cy="4064000"/>
            </a:xfrm>
            <a:prstGeom prst="roundRect">
              <a:avLst>
                <a:gd name="adj" fmla="val 4691"/>
              </a:avLst>
            </a:prstGeom>
            <a:solidFill>
              <a:srgbClr val="BAC7F6">
                <a:alpha val="55000"/>
              </a:srgb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404393" dist="38100" dir="4260000" sx="104728" sy="104728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41BE1A3-2D47-07BE-18F6-D4CD5862343F}"/>
                </a:ext>
              </a:extLst>
            </p:cNvPr>
            <p:cNvSpPr/>
            <p:nvPr/>
          </p:nvSpPr>
          <p:spPr>
            <a:xfrm>
              <a:off x="4550228" y="1271526"/>
              <a:ext cx="3193143" cy="16538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409B35C-3587-9FC7-4592-3DA42F1E75FC}"/>
              </a:ext>
            </a:extLst>
          </p:cNvPr>
          <p:cNvGrpSpPr/>
          <p:nvPr/>
        </p:nvGrpSpPr>
        <p:grpSpPr>
          <a:xfrm>
            <a:off x="8534399" y="1253383"/>
            <a:ext cx="3193143" cy="4064000"/>
            <a:chOff x="8534399" y="1253383"/>
            <a:chExt cx="3193143" cy="40640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487D028-DB27-C86E-6C7B-8F35350331FA}"/>
                </a:ext>
              </a:extLst>
            </p:cNvPr>
            <p:cNvSpPr/>
            <p:nvPr/>
          </p:nvSpPr>
          <p:spPr>
            <a:xfrm>
              <a:off x="8534399" y="1253383"/>
              <a:ext cx="3193143" cy="4064000"/>
            </a:xfrm>
            <a:prstGeom prst="roundRect">
              <a:avLst>
                <a:gd name="adj" fmla="val 4691"/>
              </a:avLst>
            </a:prstGeom>
            <a:solidFill>
              <a:srgbClr val="BAC7F6">
                <a:alpha val="55000"/>
              </a:srgbClr>
            </a:solidFill>
            <a:ln>
              <a:solidFill>
                <a:schemeClr val="bg1">
                  <a:lumMod val="85000"/>
                </a:schemeClr>
              </a:solidFill>
            </a:ln>
            <a:effectLst>
              <a:outerShdw blurRad="404393" dist="38100" dir="4260000" sx="104728" sy="104728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E5499F5-4386-C20E-E46F-B48AD0CE3987}"/>
                </a:ext>
              </a:extLst>
            </p:cNvPr>
            <p:cNvSpPr/>
            <p:nvPr/>
          </p:nvSpPr>
          <p:spPr>
            <a:xfrm>
              <a:off x="8534399" y="1280886"/>
              <a:ext cx="3193143" cy="16538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398E4723-3F1D-3EBC-7A60-2826D1377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5429" y="1599148"/>
            <a:ext cx="914400" cy="914400"/>
          </a:xfrm>
          <a:prstGeom prst="rect">
            <a:avLst/>
          </a:prstGeom>
        </p:spPr>
      </p:pic>
      <p:pic>
        <p:nvPicPr>
          <p:cNvPr id="15" name="Graphic 14" descr="Bar chart with solid fill">
            <a:extLst>
              <a:ext uri="{FF2B5EF4-FFF2-40B4-BE49-F238E27FC236}">
                <a16:creationId xmlns:a16="http://schemas.microsoft.com/office/drawing/2014/main" id="{6F91FC5C-E343-EDB8-ED59-5E1CA95C3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9599" y="1599148"/>
            <a:ext cx="914400" cy="914400"/>
          </a:xfrm>
          <a:prstGeom prst="rect">
            <a:avLst/>
          </a:prstGeom>
        </p:spPr>
      </p:pic>
      <p:pic>
        <p:nvPicPr>
          <p:cNvPr id="17" name="Graphic 16" descr="Shopping cart with solid fill">
            <a:extLst>
              <a:ext uri="{FF2B5EF4-FFF2-40B4-BE49-F238E27FC236}">
                <a16:creationId xmlns:a16="http://schemas.microsoft.com/office/drawing/2014/main" id="{ACE14672-4D31-1B9C-D1A6-62131638E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3770" y="1594468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C4DC6D-C257-E5B8-130C-EABE4EEBAF7F}"/>
              </a:ext>
            </a:extLst>
          </p:cNvPr>
          <p:cNvSpPr txBox="1"/>
          <p:nvPr/>
        </p:nvSpPr>
        <p:spPr>
          <a:xfrm>
            <a:off x="1008744" y="2739888"/>
            <a:ext cx="2409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/>
              </a:rPr>
              <a:t>Increase weekend sales</a:t>
            </a:r>
            <a:endParaRPr lang="en-IN" b="1" dirty="0"/>
          </a:p>
          <a:p>
            <a:endParaRPr lang="en-US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BB39B2-022C-E18C-1F53-164BA89BE7F8}"/>
              </a:ext>
            </a:extLst>
          </p:cNvPr>
          <p:cNvSpPr txBox="1"/>
          <p:nvPr/>
        </p:nvSpPr>
        <p:spPr>
          <a:xfrm>
            <a:off x="5047343" y="2739888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Improve Profitability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6929C0-4E5B-759A-0ED6-67A21FBF95E4}"/>
              </a:ext>
            </a:extLst>
          </p:cNvPr>
          <p:cNvSpPr txBox="1"/>
          <p:nvPr/>
        </p:nvSpPr>
        <p:spPr>
          <a:xfrm>
            <a:off x="9020627" y="2757565"/>
            <a:ext cx="222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Optimize Discounting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C190D6-7A2A-6CA7-7894-5025E8D74423}"/>
              </a:ext>
            </a:extLst>
          </p:cNvPr>
          <p:cNvSpPr txBox="1"/>
          <p:nvPr/>
        </p:nvSpPr>
        <p:spPr>
          <a:xfrm>
            <a:off x="573314" y="3804350"/>
            <a:ext cx="3193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Target a +15% surge in weekend sale</a:t>
            </a:r>
            <a:r>
              <a:rPr lang="en-IN" sz="1200" b="1" dirty="0"/>
              <a:t>s</a:t>
            </a:r>
            <a:r>
              <a:rPr lang="en-IN" sz="1200" dirty="0"/>
              <a:t> next quarter by launching high-converting weekend campaigns, flash events, and exclusive customer loyalty perks.</a:t>
            </a:r>
            <a:endParaRPr 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9BD7D7-D5A7-93E2-DCAB-19B4113D291B}"/>
              </a:ext>
            </a:extLst>
          </p:cNvPr>
          <p:cNvSpPr txBox="1"/>
          <p:nvPr/>
        </p:nvSpPr>
        <p:spPr>
          <a:xfrm>
            <a:off x="4557483" y="3816522"/>
            <a:ext cx="3193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Identify underperforming categories and bottom-performing store locations to eliminate profit leakage and optimize product mix.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8BCC3-7BD4-9AFE-880A-57F776891887}"/>
              </a:ext>
            </a:extLst>
          </p:cNvPr>
          <p:cNvSpPr txBox="1"/>
          <p:nvPr/>
        </p:nvSpPr>
        <p:spPr>
          <a:xfrm>
            <a:off x="8534397" y="3782289"/>
            <a:ext cx="319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Restructure promotional models to establish a strict discount cap (</a:t>
            </a:r>
            <a:r>
              <a:rPr lang="en-IN" sz="1200" dirty="0">
                <a:effectLst/>
                <a:latin typeface="Google Sans Text"/>
              </a:rPr>
              <a:t>15%-20%</a:t>
            </a:r>
            <a:r>
              <a:rPr lang="en-IN" sz="1200" dirty="0"/>
              <a:t>), preventing margin erosion while maintaining sales volume.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4C6896-1E11-C8C8-495A-2AC233D4A373}"/>
              </a:ext>
            </a:extLst>
          </p:cNvPr>
          <p:cNvSpPr/>
          <p:nvPr/>
        </p:nvSpPr>
        <p:spPr>
          <a:xfrm>
            <a:off x="188686" y="5972775"/>
            <a:ext cx="11843657" cy="67476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E1AB00"/>
                </a:solidFill>
              </a:rPr>
              <a:t>Tracked KPIs:</a:t>
            </a:r>
            <a:r>
              <a:rPr lang="en-IN" dirty="0">
                <a:solidFill>
                  <a:srgbClr val="E1AB00"/>
                </a:solidFill>
              </a:rPr>
              <a:t> Total Revenue • AOV (₹4,259) • Profit Margin % • Discount Impact • Weekend Ratio</a:t>
            </a:r>
            <a:endParaRPr lang="en-US" dirty="0">
              <a:solidFill>
                <a:srgbClr val="E1AB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578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A60F81-CE09-186B-FFFF-F493F7627960}"/>
              </a:ext>
            </a:extLst>
          </p:cNvPr>
          <p:cNvSpPr/>
          <p:nvPr/>
        </p:nvSpPr>
        <p:spPr>
          <a:xfrm>
            <a:off x="-1" y="-1"/>
            <a:ext cx="12192001" cy="1103087"/>
          </a:xfrm>
          <a:prstGeom prst="rect">
            <a:avLst/>
          </a:prstGeom>
          <a:solidFill>
            <a:srgbClr val="E1AB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AD5EA6-EDED-612B-2A4C-E061EC9D55AE}"/>
              </a:ext>
            </a:extLst>
          </p:cNvPr>
          <p:cNvSpPr txBox="1"/>
          <p:nvPr/>
        </p:nvSpPr>
        <p:spPr>
          <a:xfrm>
            <a:off x="391886" y="333829"/>
            <a:ext cx="5573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E X E C U T I V E    D A S H B O A R 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DCAD0E-506D-B6A3-83FB-35E42BDFF027}"/>
              </a:ext>
            </a:extLst>
          </p:cNvPr>
          <p:cNvGrpSpPr/>
          <p:nvPr/>
        </p:nvGrpSpPr>
        <p:grpSpPr>
          <a:xfrm>
            <a:off x="391886" y="1538514"/>
            <a:ext cx="3294743" cy="1890486"/>
            <a:chOff x="391886" y="1538514"/>
            <a:chExt cx="3294743" cy="18904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484C95A-A0B4-5081-7E4B-AC7D385A3D21}"/>
                </a:ext>
              </a:extLst>
            </p:cNvPr>
            <p:cNvSpPr/>
            <p:nvPr/>
          </p:nvSpPr>
          <p:spPr>
            <a:xfrm>
              <a:off x="406400" y="1538514"/>
              <a:ext cx="3280229" cy="189048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E1AB00"/>
                  </a:solidFill>
                </a:rPr>
                <a:t>Total Sales Revenue</a:t>
              </a:r>
            </a:p>
            <a:p>
              <a:pPr algn="ctr"/>
              <a:r>
                <a:rPr lang="en-IN" dirty="0">
                  <a:solidFill>
                    <a:srgbClr val="E1AB00"/>
                  </a:solidFill>
                </a:rPr>
                <a:t> </a:t>
              </a:r>
              <a:r>
                <a:rPr lang="en-IN" b="1" dirty="0">
                  <a:solidFill>
                    <a:srgbClr val="E1AB00"/>
                  </a:solidFill>
                </a:rPr>
                <a:t>₹2.13 Crore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6B8583-F5BE-57A2-244C-B010F9152BED}"/>
                </a:ext>
              </a:extLst>
            </p:cNvPr>
            <p:cNvSpPr/>
            <p:nvPr/>
          </p:nvSpPr>
          <p:spPr>
            <a:xfrm>
              <a:off x="391886" y="1538514"/>
              <a:ext cx="3294743" cy="188685"/>
            </a:xfrm>
            <a:prstGeom prst="rect">
              <a:avLst/>
            </a:prstGeom>
            <a:solidFill>
              <a:srgbClr val="E1AB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F97A91-D0E7-91DA-78C8-806384B9AA3C}"/>
              </a:ext>
            </a:extLst>
          </p:cNvPr>
          <p:cNvGrpSpPr/>
          <p:nvPr/>
        </p:nvGrpSpPr>
        <p:grpSpPr>
          <a:xfrm>
            <a:off x="4524827" y="1538514"/>
            <a:ext cx="3280230" cy="1890486"/>
            <a:chOff x="4524827" y="1538514"/>
            <a:chExt cx="3280230" cy="18904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65BFE5-C3F8-2A82-D51B-6FBDAB88035F}"/>
                </a:ext>
              </a:extLst>
            </p:cNvPr>
            <p:cNvSpPr/>
            <p:nvPr/>
          </p:nvSpPr>
          <p:spPr>
            <a:xfrm>
              <a:off x="4524828" y="1538514"/>
              <a:ext cx="3280229" cy="189048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accent6">
                      <a:lumMod val="75000"/>
                    </a:schemeClr>
                  </a:solidFill>
                </a:rPr>
                <a:t>Average Order Value (AOV)</a:t>
              </a:r>
              <a:r>
                <a:rPr lang="en-IN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IN" b="1" dirty="0">
                  <a:solidFill>
                    <a:schemeClr val="accent6">
                      <a:lumMod val="75000"/>
                    </a:schemeClr>
                  </a:solidFill>
                </a:rPr>
                <a:t>₹4,259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157BD0-36B4-39E8-AF7E-A772DE50A621}"/>
                </a:ext>
              </a:extLst>
            </p:cNvPr>
            <p:cNvSpPr/>
            <p:nvPr/>
          </p:nvSpPr>
          <p:spPr>
            <a:xfrm>
              <a:off x="4524827" y="1538514"/>
              <a:ext cx="3280229" cy="18868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1ABBC5-1704-C794-64EE-AB5C91C84BF2}"/>
              </a:ext>
            </a:extLst>
          </p:cNvPr>
          <p:cNvGrpSpPr/>
          <p:nvPr/>
        </p:nvGrpSpPr>
        <p:grpSpPr>
          <a:xfrm>
            <a:off x="8505371" y="1538514"/>
            <a:ext cx="3280229" cy="1890486"/>
            <a:chOff x="8505371" y="1538514"/>
            <a:chExt cx="3280229" cy="18904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054A957-F952-ED9A-1032-15988BACE244}"/>
                </a:ext>
              </a:extLst>
            </p:cNvPr>
            <p:cNvSpPr/>
            <p:nvPr/>
          </p:nvSpPr>
          <p:spPr>
            <a:xfrm>
              <a:off x="8505371" y="1538514"/>
              <a:ext cx="3280229" cy="189048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FF0000"/>
                  </a:solidFill>
                </a:rPr>
                <a:t>Overall Profit Margin</a:t>
              </a:r>
            </a:p>
            <a:p>
              <a:pPr algn="ctr"/>
              <a:r>
                <a:rPr lang="en-IN" dirty="0">
                  <a:solidFill>
                    <a:srgbClr val="FF0000"/>
                  </a:solidFill>
                </a:rPr>
                <a:t> </a:t>
              </a:r>
              <a:r>
                <a:rPr lang="en-IN" b="1" dirty="0">
                  <a:solidFill>
                    <a:srgbClr val="FF0000"/>
                  </a:solidFill>
                </a:rPr>
                <a:t>26.57%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A7993D-5474-6D5B-197A-EE76AE7322E3}"/>
                </a:ext>
              </a:extLst>
            </p:cNvPr>
            <p:cNvSpPr/>
            <p:nvPr/>
          </p:nvSpPr>
          <p:spPr>
            <a:xfrm>
              <a:off x="8505371" y="1538514"/>
              <a:ext cx="3280229" cy="18868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693998-7C92-8C5A-6458-8AE882E16592}"/>
              </a:ext>
            </a:extLst>
          </p:cNvPr>
          <p:cNvGrpSpPr/>
          <p:nvPr/>
        </p:nvGrpSpPr>
        <p:grpSpPr>
          <a:xfrm>
            <a:off x="406400" y="3864428"/>
            <a:ext cx="3294743" cy="1890486"/>
            <a:chOff x="391886" y="3864428"/>
            <a:chExt cx="3294743" cy="18904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8BA67B-F372-600D-9C98-7037618B2971}"/>
                </a:ext>
              </a:extLst>
            </p:cNvPr>
            <p:cNvSpPr/>
            <p:nvPr/>
          </p:nvSpPr>
          <p:spPr>
            <a:xfrm>
              <a:off x="406400" y="3864428"/>
              <a:ext cx="3280229" cy="189048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IN" b="1" dirty="0"/>
            </a:p>
            <a:p>
              <a:r>
                <a:rPr lang="en-IN" b="1" dirty="0"/>
                <a:t>        </a:t>
              </a:r>
            </a:p>
            <a:p>
              <a:r>
                <a:rPr lang="en-IN" b="1" dirty="0"/>
                <a:t>       </a:t>
              </a:r>
              <a:r>
                <a:rPr lang="en-IN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Weekday vs Weekend</a:t>
              </a:r>
              <a:br>
                <a:rPr lang="en-IN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</a:br>
              <a:r>
                <a:rPr lang="en-IN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            </a:t>
              </a:r>
              <a:r>
                <a:rPr lang="en-IN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70% : 30% Ratio</a:t>
              </a:r>
              <a:endParaRPr lang="en-IN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  <a:p>
              <a:br>
                <a:rPr lang="en-IN" dirty="0"/>
              </a:br>
              <a:endParaRPr lang="en-US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61E698-6C1B-6FC6-6E6E-985F84E6AE00}"/>
                </a:ext>
              </a:extLst>
            </p:cNvPr>
            <p:cNvSpPr/>
            <p:nvPr/>
          </p:nvSpPr>
          <p:spPr>
            <a:xfrm>
              <a:off x="391886" y="3864428"/>
              <a:ext cx="3294743" cy="18505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7EBD5F-CA61-D733-0D01-23B3993C421E}"/>
              </a:ext>
            </a:extLst>
          </p:cNvPr>
          <p:cNvGrpSpPr/>
          <p:nvPr/>
        </p:nvGrpSpPr>
        <p:grpSpPr>
          <a:xfrm>
            <a:off x="4524827" y="3864428"/>
            <a:ext cx="3280229" cy="1890486"/>
            <a:chOff x="4524827" y="3864428"/>
            <a:chExt cx="3280229" cy="18904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DC0810-1B14-F7F4-7713-818403616816}"/>
                </a:ext>
              </a:extLst>
            </p:cNvPr>
            <p:cNvSpPr/>
            <p:nvPr/>
          </p:nvSpPr>
          <p:spPr>
            <a:xfrm>
              <a:off x="4524827" y="3864428"/>
              <a:ext cx="3280229" cy="189048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accent2"/>
                  </a:solidFill>
                </a:rPr>
                <a:t>Units Sold </a:t>
              </a:r>
            </a:p>
            <a:p>
              <a:pPr algn="ctr"/>
              <a:r>
                <a:rPr lang="en-IN" b="1" dirty="0">
                  <a:solidFill>
                    <a:schemeClr val="accent2"/>
                  </a:solidFill>
                </a:rPr>
                <a:t>3.0 Units</a:t>
              </a:r>
              <a:r>
                <a:rPr lang="en-IN" dirty="0">
                  <a:solidFill>
                    <a:schemeClr val="accent2"/>
                  </a:solidFill>
                </a:rPr>
                <a:t> </a:t>
              </a:r>
              <a:r>
                <a:rPr lang="en-IN" b="1" dirty="0">
                  <a:solidFill>
                    <a:schemeClr val="accent2"/>
                  </a:solidFill>
                </a:rPr>
                <a:t>per transaction</a:t>
              </a:r>
              <a:endParaRPr lang="en-US" b="1" dirty="0">
                <a:solidFill>
                  <a:schemeClr val="accent2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FF0FDA-1C61-3ACB-FD7A-7430622B7D57}"/>
                </a:ext>
              </a:extLst>
            </p:cNvPr>
            <p:cNvSpPr/>
            <p:nvPr/>
          </p:nvSpPr>
          <p:spPr>
            <a:xfrm>
              <a:off x="4524827" y="3864428"/>
              <a:ext cx="3280229" cy="18505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6D93835-90A5-FD7C-1948-9E15B3365EA0}"/>
              </a:ext>
            </a:extLst>
          </p:cNvPr>
          <p:cNvGrpSpPr/>
          <p:nvPr/>
        </p:nvGrpSpPr>
        <p:grpSpPr>
          <a:xfrm>
            <a:off x="8505371" y="3864428"/>
            <a:ext cx="3280229" cy="1890486"/>
            <a:chOff x="8505371" y="3864428"/>
            <a:chExt cx="3280229" cy="18904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7DEC287-CB87-5B5D-2DA4-A1799B1AB61A}"/>
                </a:ext>
              </a:extLst>
            </p:cNvPr>
            <p:cNvSpPr/>
            <p:nvPr/>
          </p:nvSpPr>
          <p:spPr>
            <a:xfrm>
              <a:off x="8505371" y="3864428"/>
              <a:ext cx="3280229" cy="189048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CAAC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CAACDF"/>
                  </a:solidFill>
                  <a:effectLst/>
                  <a:latin typeface="Google Sans Text"/>
                </a:rPr>
                <a:t>Discount Impact</a:t>
              </a:r>
            </a:p>
            <a:p>
              <a:pPr algn="ctr"/>
              <a:r>
                <a:rPr lang="en-IN" b="1" dirty="0">
                  <a:solidFill>
                    <a:srgbClr val="CAACDF"/>
                  </a:solidFill>
                </a:rPr>
                <a:t>Margin drops</a:t>
              </a:r>
              <a:r>
                <a:rPr lang="en-IN" dirty="0">
                  <a:solidFill>
                    <a:srgbClr val="CAACDF"/>
                  </a:solidFill>
                </a:rPr>
                <a:t> </a:t>
              </a:r>
              <a:r>
                <a:rPr lang="en-IN" b="1" dirty="0">
                  <a:solidFill>
                    <a:srgbClr val="CAACDF"/>
                  </a:solidFill>
                  <a:effectLst/>
                  <a:latin typeface="Google Sans Text"/>
                </a:rPr>
                <a:t>37.49%</a:t>
              </a:r>
              <a:r>
                <a:rPr lang="en-IN" dirty="0">
                  <a:solidFill>
                    <a:srgbClr val="CAACDF"/>
                  </a:solidFill>
                </a:rPr>
                <a:t> - </a:t>
              </a:r>
              <a:r>
                <a:rPr lang="en-IN" b="1" dirty="0">
                  <a:solidFill>
                    <a:srgbClr val="CAACDF"/>
                  </a:solidFill>
                  <a:effectLst/>
                  <a:latin typeface="Google Sans Text"/>
                </a:rPr>
                <a:t>9.87%</a:t>
              </a:r>
              <a:r>
                <a:rPr lang="en-IN" dirty="0">
                  <a:solidFill>
                    <a:srgbClr val="CAACDF"/>
                  </a:solidFill>
                </a:rPr>
                <a:t> </a:t>
              </a:r>
              <a:endParaRPr lang="en-US" dirty="0">
                <a:solidFill>
                  <a:srgbClr val="CAACDF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0CABC8-B115-CE33-5E1B-9C39A2E99750}"/>
                </a:ext>
              </a:extLst>
            </p:cNvPr>
            <p:cNvSpPr/>
            <p:nvPr/>
          </p:nvSpPr>
          <p:spPr>
            <a:xfrm>
              <a:off x="8505371" y="3864428"/>
              <a:ext cx="3280229" cy="185058"/>
            </a:xfrm>
            <a:prstGeom prst="rect">
              <a:avLst/>
            </a:prstGeom>
            <a:solidFill>
              <a:srgbClr val="CAACD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7BD69B12-0BA2-42E7-930A-CC462D70F3EF}"/>
              </a:ext>
            </a:extLst>
          </p:cNvPr>
          <p:cNvSpPr/>
          <p:nvPr/>
        </p:nvSpPr>
        <p:spPr>
          <a:xfrm>
            <a:off x="0" y="6583680"/>
            <a:ext cx="2994660" cy="2743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7B46F7-7DC0-A652-C1BA-861D4EA6233F}"/>
              </a:ext>
            </a:extLst>
          </p:cNvPr>
          <p:cNvSpPr/>
          <p:nvPr/>
        </p:nvSpPr>
        <p:spPr>
          <a:xfrm>
            <a:off x="2415914" y="6583680"/>
            <a:ext cx="299466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28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082C17-F8A3-3E49-E4F8-424D1456A968}"/>
              </a:ext>
            </a:extLst>
          </p:cNvPr>
          <p:cNvSpPr/>
          <p:nvPr/>
        </p:nvSpPr>
        <p:spPr>
          <a:xfrm>
            <a:off x="0" y="0"/>
            <a:ext cx="12192000" cy="85634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F0A2DC-3D2F-1B08-14F5-61FD52609835}"/>
              </a:ext>
            </a:extLst>
          </p:cNvPr>
          <p:cNvSpPr txBox="1"/>
          <p:nvPr/>
        </p:nvSpPr>
        <p:spPr>
          <a:xfrm>
            <a:off x="329783" y="194872"/>
            <a:ext cx="6145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Q1. PRODUCT  CATEGORY  PERFORMANCE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2C14C8A-5F1C-B7C9-8074-254490517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5803" y="1051216"/>
            <a:ext cx="5526371" cy="3629598"/>
          </a:xfrm>
          <a:prstGeom prst="rect">
            <a:avLst/>
          </a:prstGeom>
          <a:noFill/>
          <a:effectLst>
            <a:outerShdw blurRad="287659" dir="4687608" sx="103618" sy="103618" algn="tl" rotWithShape="0">
              <a:prstClr val="black">
                <a:alpha val="4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635FFF5-A6F6-EE1C-6AF4-75407F727681}"/>
              </a:ext>
            </a:extLst>
          </p:cNvPr>
          <p:cNvGrpSpPr/>
          <p:nvPr/>
        </p:nvGrpSpPr>
        <p:grpSpPr>
          <a:xfrm>
            <a:off x="189875" y="5057274"/>
            <a:ext cx="3792511" cy="1501813"/>
            <a:chOff x="189875" y="5057274"/>
            <a:chExt cx="3792511" cy="150181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FF9332A-761F-EC60-F430-6A34E0071B2B}"/>
                </a:ext>
              </a:extLst>
            </p:cNvPr>
            <p:cNvSpPr/>
            <p:nvPr/>
          </p:nvSpPr>
          <p:spPr>
            <a:xfrm>
              <a:off x="189876" y="5060070"/>
              <a:ext cx="3792510" cy="149901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0747D94-228B-111B-7A30-CE9424611DD9}"/>
                </a:ext>
              </a:extLst>
            </p:cNvPr>
            <p:cNvSpPr/>
            <p:nvPr/>
          </p:nvSpPr>
          <p:spPr>
            <a:xfrm>
              <a:off x="189875" y="5057274"/>
              <a:ext cx="79951" cy="149901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FEE39B2-263C-D3A5-DA02-D00B6D814D16}"/>
              </a:ext>
            </a:extLst>
          </p:cNvPr>
          <p:cNvGrpSpPr/>
          <p:nvPr/>
        </p:nvGrpSpPr>
        <p:grpSpPr>
          <a:xfrm>
            <a:off x="8129663" y="4999808"/>
            <a:ext cx="3792511" cy="1501813"/>
            <a:chOff x="189875" y="5057274"/>
            <a:chExt cx="3792511" cy="150181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277F91-E989-04C3-258A-58B0C60A112C}"/>
                </a:ext>
              </a:extLst>
            </p:cNvPr>
            <p:cNvSpPr/>
            <p:nvPr/>
          </p:nvSpPr>
          <p:spPr>
            <a:xfrm>
              <a:off x="189876" y="5060070"/>
              <a:ext cx="3792510" cy="149901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5E1335-4C9B-BEAC-BBD8-A126B5DD88D3}"/>
                </a:ext>
              </a:extLst>
            </p:cNvPr>
            <p:cNvSpPr/>
            <p:nvPr/>
          </p:nvSpPr>
          <p:spPr>
            <a:xfrm>
              <a:off x="189875" y="5057274"/>
              <a:ext cx="79951" cy="149901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74E29E-4E48-8F95-B2D7-7F3D9C8E5AA3}"/>
              </a:ext>
            </a:extLst>
          </p:cNvPr>
          <p:cNvGrpSpPr/>
          <p:nvPr/>
        </p:nvGrpSpPr>
        <p:grpSpPr>
          <a:xfrm>
            <a:off x="4149777" y="5027290"/>
            <a:ext cx="3792511" cy="1501813"/>
            <a:chOff x="189875" y="5057274"/>
            <a:chExt cx="3792511" cy="150181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FC12340-ED81-963B-4675-FB6E460BA9A8}"/>
                </a:ext>
              </a:extLst>
            </p:cNvPr>
            <p:cNvSpPr/>
            <p:nvPr/>
          </p:nvSpPr>
          <p:spPr>
            <a:xfrm>
              <a:off x="189876" y="5060070"/>
              <a:ext cx="3792510" cy="149901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04BD32-F39A-7F9E-F701-676BCF795532}"/>
                </a:ext>
              </a:extLst>
            </p:cNvPr>
            <p:cNvSpPr/>
            <p:nvPr/>
          </p:nvSpPr>
          <p:spPr>
            <a:xfrm>
              <a:off x="189875" y="5057274"/>
              <a:ext cx="79951" cy="149901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Graphic 16" descr="Trophy with solid fill">
            <a:extLst>
              <a:ext uri="{FF2B5EF4-FFF2-40B4-BE49-F238E27FC236}">
                <a16:creationId xmlns:a16="http://schemas.microsoft.com/office/drawing/2014/main" id="{FF590C02-1299-823C-BE50-73E79A931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217" y="5141632"/>
            <a:ext cx="307777" cy="3077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6051DF-1791-B272-E362-A55E4D70B154}"/>
              </a:ext>
            </a:extLst>
          </p:cNvPr>
          <p:cNvSpPr txBox="1"/>
          <p:nvPr/>
        </p:nvSpPr>
        <p:spPr>
          <a:xfrm>
            <a:off x="742189" y="5139029"/>
            <a:ext cx="2623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Shoes Leads Revenue</a:t>
            </a:r>
          </a:p>
        </p:txBody>
      </p:sp>
      <p:pic>
        <p:nvPicPr>
          <p:cNvPr id="20" name="Graphic 19" descr="Diamond with solid fill">
            <a:extLst>
              <a:ext uri="{FF2B5EF4-FFF2-40B4-BE49-F238E27FC236}">
                <a16:creationId xmlns:a16="http://schemas.microsoft.com/office/drawing/2014/main" id="{4D0C1E3B-1C87-F8A7-A182-F559C37630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7762" y="5122806"/>
            <a:ext cx="324000" cy="324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A3BF96E-0989-6DC4-5A00-C22C725FE42C}"/>
              </a:ext>
            </a:extLst>
          </p:cNvPr>
          <p:cNvSpPr txBox="1"/>
          <p:nvPr/>
        </p:nvSpPr>
        <p:spPr>
          <a:xfrm>
            <a:off x="4677106" y="5122877"/>
            <a:ext cx="2436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Accessories Highest Margin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C5CAE6-7F6B-302C-7F5B-6A62F2211B25}"/>
              </a:ext>
            </a:extLst>
          </p:cNvPr>
          <p:cNvSpPr txBox="1"/>
          <p:nvPr/>
        </p:nvSpPr>
        <p:spPr>
          <a:xfrm>
            <a:off x="269826" y="5727589"/>
            <a:ext cx="3672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Contributes </a:t>
            </a:r>
            <a:r>
              <a:rPr lang="en-IN" sz="1200" b="1" dirty="0"/>
              <a:t>₹1.33 Cr</a:t>
            </a:r>
            <a:r>
              <a:rPr lang="en-IN" sz="1200" dirty="0"/>
              <a:t> (over 60% of total revenue) with maximum unit sales (</a:t>
            </a:r>
            <a:r>
              <a:rPr lang="en-IN" sz="1200" b="1" dirty="0"/>
              <a:t>5,152 units</a:t>
            </a:r>
            <a:r>
              <a:rPr lang="en-IN" sz="1200" dirty="0"/>
              <a:t>). High volume driver. 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1695BE-73B5-4101-D316-8CC642A8E8EB}"/>
              </a:ext>
            </a:extLst>
          </p:cNvPr>
          <p:cNvSpPr txBox="1"/>
          <p:nvPr/>
        </p:nvSpPr>
        <p:spPr>
          <a:xfrm>
            <a:off x="4229729" y="5710915"/>
            <a:ext cx="371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33.05% profit margin</a:t>
            </a:r>
            <a:r>
              <a:rPr lang="en-IN" sz="1200" dirty="0"/>
              <a:t> — best in class. Scale this category with cross-selling bundles at checkout. </a:t>
            </a:r>
            <a:endParaRPr lang="en-US" sz="1200" dirty="0"/>
          </a:p>
        </p:txBody>
      </p:sp>
      <p:pic>
        <p:nvPicPr>
          <p:cNvPr id="25" name="Graphic 24" descr="Scales of justice with solid fill">
            <a:extLst>
              <a:ext uri="{FF2B5EF4-FFF2-40B4-BE49-F238E27FC236}">
                <a16:creationId xmlns:a16="http://schemas.microsoft.com/office/drawing/2014/main" id="{FAB681F1-9ADC-2EAF-15C0-AFEF351F8C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7163" y="5105563"/>
            <a:ext cx="342265" cy="34226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72D943-165E-FEA0-6606-5BC339D26958}"/>
              </a:ext>
            </a:extLst>
          </p:cNvPr>
          <p:cNvSpPr txBox="1"/>
          <p:nvPr/>
        </p:nvSpPr>
        <p:spPr>
          <a:xfrm>
            <a:off x="8709428" y="5122806"/>
            <a:ext cx="2557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Shoes: Revenue vs Margin Gap</a:t>
            </a:r>
            <a:endParaRPr lang="en-US" sz="1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14C7E5-AEDC-57EF-A9D8-81AF1959CBDB}"/>
              </a:ext>
            </a:extLst>
          </p:cNvPr>
          <p:cNvSpPr txBox="1"/>
          <p:nvPr/>
        </p:nvSpPr>
        <p:spPr>
          <a:xfrm>
            <a:off x="8209614" y="5710915"/>
            <a:ext cx="371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₹13.3 Cr revenue but only 24.1% margin. Review supplier costs and restrict deep discounting. 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B017E8-2E52-C0FB-5142-DA88FE76F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50" y="1071713"/>
            <a:ext cx="5786199" cy="3632448"/>
          </a:xfrm>
          <a:prstGeom prst="rect">
            <a:avLst/>
          </a:prstGeom>
          <a:noFill/>
          <a:effectLst>
            <a:outerShdw blurRad="287659" dir="4687608" sx="103618" sy="103618" algn="tl" rotWithShape="0">
              <a:prstClr val="black">
                <a:alpha val="42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49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72BF0B-51A4-5516-2BC3-CF8DB86FD9A6}"/>
              </a:ext>
            </a:extLst>
          </p:cNvPr>
          <p:cNvSpPr/>
          <p:nvPr/>
        </p:nvSpPr>
        <p:spPr>
          <a:xfrm>
            <a:off x="0" y="0"/>
            <a:ext cx="12192000" cy="10043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10C740-2952-ED84-D47A-F13EBA5E113E}"/>
              </a:ext>
            </a:extLst>
          </p:cNvPr>
          <p:cNvSpPr txBox="1"/>
          <p:nvPr/>
        </p:nvSpPr>
        <p:spPr>
          <a:xfrm>
            <a:off x="359764" y="308813"/>
            <a:ext cx="6820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Q2: WEEKEND vs WEEKDAY SALES 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83DAC0-8028-AA29-AC10-3D53CB63A8A1}"/>
              </a:ext>
            </a:extLst>
          </p:cNvPr>
          <p:cNvSpPr/>
          <p:nvPr/>
        </p:nvSpPr>
        <p:spPr>
          <a:xfrm>
            <a:off x="359765" y="1313154"/>
            <a:ext cx="5758722" cy="253931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13183-91CF-C231-3DB0-8FED2F5697F5}"/>
              </a:ext>
            </a:extLst>
          </p:cNvPr>
          <p:cNvSpPr/>
          <p:nvPr/>
        </p:nvSpPr>
        <p:spPr>
          <a:xfrm>
            <a:off x="6295869" y="1292543"/>
            <a:ext cx="5513882" cy="25393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CF214-726D-C72D-2963-AEE88366C824}"/>
              </a:ext>
            </a:extLst>
          </p:cNvPr>
          <p:cNvSpPr txBox="1"/>
          <p:nvPr/>
        </p:nvSpPr>
        <p:spPr>
          <a:xfrm>
            <a:off x="2248524" y="1499337"/>
            <a:ext cx="1753849" cy="338554"/>
          </a:xfrm>
          <a:prstGeom prst="rect">
            <a:avLst/>
          </a:prstGeom>
          <a:noFill/>
          <a:effectLst>
            <a:glow rad="711582">
              <a:schemeClr val="accent1">
                <a:alpha val="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F0F8"/>
                </a:solidFill>
                <a:latin typeface="Calisto MT" panose="02040603050505030304" pitchFamily="18" charset="77"/>
              </a:rPr>
              <a:t>WEEKDAYS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1A0E46-DB6E-9132-2BCE-F9C2A534C839}"/>
              </a:ext>
            </a:extLst>
          </p:cNvPr>
          <p:cNvSpPr txBox="1"/>
          <p:nvPr/>
        </p:nvSpPr>
        <p:spPr>
          <a:xfrm>
            <a:off x="2173573" y="1977427"/>
            <a:ext cx="1753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₹1.49 Cr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83947-F4CC-6ADD-F5B7-1B17F9F93F3E}"/>
              </a:ext>
            </a:extLst>
          </p:cNvPr>
          <p:cNvSpPr txBox="1"/>
          <p:nvPr/>
        </p:nvSpPr>
        <p:spPr>
          <a:xfrm>
            <a:off x="1948722" y="2592500"/>
            <a:ext cx="2143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15F0F8"/>
                </a:solidFill>
              </a:rPr>
              <a:t>69.8% of total </a:t>
            </a:r>
            <a:r>
              <a:rPr lang="en-IN" dirty="0">
                <a:solidFill>
                  <a:srgbClr val="15F0F8"/>
                </a:solidFill>
              </a:rPr>
              <a:t>revenue</a:t>
            </a:r>
            <a:endParaRPr lang="en-US" dirty="0">
              <a:solidFill>
                <a:srgbClr val="15F0F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835D8D-FCC9-35E4-99B8-7637D272901E}"/>
              </a:ext>
            </a:extLst>
          </p:cNvPr>
          <p:cNvSpPr txBox="1"/>
          <p:nvPr/>
        </p:nvSpPr>
        <p:spPr>
          <a:xfrm>
            <a:off x="2248524" y="2932571"/>
            <a:ext cx="1439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₹28.5L / day</a:t>
            </a:r>
            <a:r>
              <a:rPr lang="en-IN" dirty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E5201-F9E2-F68C-EB5B-419D25BC6ABC}"/>
              </a:ext>
            </a:extLst>
          </p:cNvPr>
          <p:cNvSpPr txBox="1"/>
          <p:nvPr/>
        </p:nvSpPr>
        <p:spPr>
          <a:xfrm>
            <a:off x="8199620" y="1499337"/>
            <a:ext cx="1818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sto MT" panose="02040603050505030304" pitchFamily="18" charset="77"/>
              </a:rPr>
              <a:t>WEEKENDS</a:t>
            </a:r>
            <a:endParaRPr lang="en-US" sz="1600" b="1" dirty="0">
              <a:latin typeface="Calisto MT" panose="02040603050505030304" pitchFamily="18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F0143-B2EB-848E-1E5A-BFE4F1196D56}"/>
              </a:ext>
            </a:extLst>
          </p:cNvPr>
          <p:cNvSpPr txBox="1"/>
          <p:nvPr/>
        </p:nvSpPr>
        <p:spPr>
          <a:xfrm>
            <a:off x="7909811" y="2007725"/>
            <a:ext cx="2173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₹64.4 Lakh</a:t>
            </a:r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3FB1BD-AFB5-869A-3208-56A3D0508BB2}"/>
              </a:ext>
            </a:extLst>
          </p:cNvPr>
          <p:cNvSpPr txBox="1"/>
          <p:nvPr/>
        </p:nvSpPr>
        <p:spPr>
          <a:xfrm>
            <a:off x="7799881" y="2562202"/>
            <a:ext cx="246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30.2% of total revenue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17D3AA-B16F-CD35-CD29-89CF82446D4B}"/>
              </a:ext>
            </a:extLst>
          </p:cNvPr>
          <p:cNvSpPr txBox="1"/>
          <p:nvPr/>
        </p:nvSpPr>
        <p:spPr>
          <a:xfrm>
            <a:off x="8099685" y="2931534"/>
            <a:ext cx="1863776" cy="37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₹16.1L / day</a:t>
            </a:r>
            <a:endParaRPr lang="en-US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6833479-A793-07CC-4F8F-557A964D726D}"/>
              </a:ext>
            </a:extLst>
          </p:cNvPr>
          <p:cNvSpPr/>
          <p:nvPr/>
        </p:nvSpPr>
        <p:spPr>
          <a:xfrm>
            <a:off x="5651292" y="2143593"/>
            <a:ext cx="766997" cy="7879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56% GAP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BFE736-8792-74DD-BEDC-A96A1B557E30}"/>
              </a:ext>
            </a:extLst>
          </p:cNvPr>
          <p:cNvSpPr txBox="1"/>
          <p:nvPr/>
        </p:nvSpPr>
        <p:spPr>
          <a:xfrm>
            <a:off x="479684" y="4045110"/>
            <a:ext cx="7045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OBSERVATIONS &amp; RECOMMENDATIONS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48A00-6D29-AEA9-56D3-763DAD5D489E}"/>
              </a:ext>
            </a:extLst>
          </p:cNvPr>
          <p:cNvSpPr txBox="1"/>
          <p:nvPr/>
        </p:nvSpPr>
        <p:spPr>
          <a:xfrm>
            <a:off x="509663" y="4473521"/>
            <a:ext cx="11330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📉 </a:t>
            </a:r>
            <a:r>
              <a:rPr lang="en-IN" sz="1400" b="1" dirty="0"/>
              <a:t>Revenue Shortfall:</a:t>
            </a:r>
            <a:r>
              <a:rPr lang="en-IN" sz="1400" dirty="0"/>
              <a:t> Weekends generate only </a:t>
            </a:r>
            <a:r>
              <a:rPr lang="en-IN" sz="1400" b="1" dirty="0"/>
              <a:t>30.2% of total revenue</a:t>
            </a:r>
            <a:r>
              <a:rPr lang="en-IN" sz="1400" dirty="0"/>
              <a:t>, creating a </a:t>
            </a:r>
            <a:r>
              <a:rPr lang="en-IN" sz="1400" b="1" dirty="0"/>
              <a:t>56% per-day revenue gap</a:t>
            </a:r>
            <a:r>
              <a:rPr lang="en-IN" sz="1400" dirty="0"/>
              <a:t> compared to weekdays. 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0304E0-757B-27A4-F4DE-0AD37CEC38CF}"/>
              </a:ext>
            </a:extLst>
          </p:cNvPr>
          <p:cNvSpPr txBox="1"/>
          <p:nvPr/>
        </p:nvSpPr>
        <p:spPr>
          <a:xfrm>
            <a:off x="509663" y="4861273"/>
            <a:ext cx="11330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🛍️ </a:t>
            </a:r>
            <a:r>
              <a:rPr lang="en-IN" sz="1400" b="1" dirty="0"/>
              <a:t>Footfall Issue, Not Margin:</a:t>
            </a:r>
            <a:r>
              <a:rPr lang="en-IN" sz="1400" dirty="0"/>
              <a:t> Profit margins remain identical (</a:t>
            </a:r>
            <a:r>
              <a:rPr lang="en-IN" sz="1400" b="1" dirty="0"/>
              <a:t>26.64% Weekday vs 26.40% Weekend</a:t>
            </a:r>
            <a:r>
              <a:rPr lang="en-IN" sz="1400" dirty="0"/>
              <a:t>). The issue is purely low weekend store footfall.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510807-EB19-FB9E-0187-0D0952979E47}"/>
              </a:ext>
            </a:extLst>
          </p:cNvPr>
          <p:cNvSpPr txBox="1"/>
          <p:nvPr/>
        </p:nvSpPr>
        <p:spPr>
          <a:xfrm>
            <a:off x="509663" y="5276616"/>
            <a:ext cx="113300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🎯 </a:t>
            </a:r>
            <a:r>
              <a:rPr lang="en-IN" sz="1400" b="1" dirty="0"/>
              <a:t>Weekend Loyalty Push:</a:t>
            </a:r>
            <a:r>
              <a:rPr lang="en-IN" sz="1400" dirty="0"/>
              <a:t> Convert window shoppers by launching </a:t>
            </a:r>
            <a:r>
              <a:rPr lang="en-IN" sz="1400" b="1" dirty="0"/>
              <a:t>"FashionWave Weekend Perks"</a:t>
            </a:r>
            <a:r>
              <a:rPr lang="en-IN" sz="1400" dirty="0"/>
              <a:t> — offer 2x loyalty points on Saturday and Sunday </a:t>
            </a:r>
          </a:p>
          <a:p>
            <a:r>
              <a:rPr lang="en-IN" sz="1400" dirty="0"/>
              <a:t>                                                  purchases.</a:t>
            </a:r>
          </a:p>
          <a:p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B744E6-6314-A5EF-5BC6-29C1E5A17269}"/>
              </a:ext>
            </a:extLst>
          </p:cNvPr>
          <p:cNvSpPr txBox="1"/>
          <p:nvPr/>
        </p:nvSpPr>
        <p:spPr>
          <a:xfrm>
            <a:off x="479683" y="5838788"/>
            <a:ext cx="11313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📲 </a:t>
            </a:r>
            <a:r>
              <a:rPr lang="en-IN" sz="1400" b="1" dirty="0"/>
              <a:t>Pre-Weekend Digital Alerts:</a:t>
            </a:r>
            <a:r>
              <a:rPr lang="en-IN" sz="1400" dirty="0"/>
              <a:t> Send targeted WhatsApp and SMS notifications on Thursday &amp; Friday evenings featuring weekend-exclusive bundle deals.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03852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FDB772-EF6A-299C-2AA1-2E824B0F9376}"/>
              </a:ext>
            </a:extLst>
          </p:cNvPr>
          <p:cNvSpPr/>
          <p:nvPr/>
        </p:nvSpPr>
        <p:spPr>
          <a:xfrm>
            <a:off x="0" y="0"/>
            <a:ext cx="12192000" cy="89941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8D57CA-D847-D88E-2FC5-0A19AF8740CD}"/>
              </a:ext>
            </a:extLst>
          </p:cNvPr>
          <p:cNvSpPr/>
          <p:nvPr/>
        </p:nvSpPr>
        <p:spPr>
          <a:xfrm>
            <a:off x="299799" y="5666283"/>
            <a:ext cx="11592399" cy="85443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65C85-16AA-C049-9CCB-45166B6BCEBE}"/>
              </a:ext>
            </a:extLst>
          </p:cNvPr>
          <p:cNvSpPr txBox="1"/>
          <p:nvPr/>
        </p:nvSpPr>
        <p:spPr>
          <a:xfrm>
            <a:off x="299800" y="5801193"/>
            <a:ext cx="11592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SEASONAL INSIGHT:</a:t>
            </a:r>
            <a:r>
              <a:rPr lang="en-IN" dirty="0"/>
              <a:t> Revenue peaks in </a:t>
            </a:r>
            <a:r>
              <a:rPr lang="en-IN" b="1" dirty="0"/>
              <a:t>January</a:t>
            </a:r>
            <a:r>
              <a:rPr lang="en-IN" dirty="0"/>
              <a:t> (Post-holiday sales) and </a:t>
            </a:r>
            <a:r>
              <a:rPr lang="en-IN" b="1" dirty="0"/>
              <a:t>August/March</a:t>
            </a:r>
            <a:r>
              <a:rPr lang="en-IN" dirty="0"/>
              <a:t> (Seasonal transitions). </a:t>
            </a:r>
            <a:r>
              <a:rPr lang="en-IN" b="1" dirty="0"/>
              <a:t>February</a:t>
            </a:r>
            <a:r>
              <a:rPr lang="en-IN" dirty="0"/>
              <a:t> and </a:t>
            </a:r>
            <a:r>
              <a:rPr lang="en-IN" b="1" dirty="0"/>
              <a:t>April</a:t>
            </a:r>
            <a:r>
              <a:rPr lang="en-IN" dirty="0"/>
              <a:t> show consistent dips (₹0.7L).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A14469C-1B42-2250-BBE8-1656BA84C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03323"/>
            <a:ext cx="11410122" cy="4633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45E8197-F03B-E3B6-A7E1-6AEF7C435BD6}"/>
              </a:ext>
            </a:extLst>
          </p:cNvPr>
          <p:cNvGrpSpPr/>
          <p:nvPr/>
        </p:nvGrpSpPr>
        <p:grpSpPr>
          <a:xfrm>
            <a:off x="9978887" y="973423"/>
            <a:ext cx="1913311" cy="1570994"/>
            <a:chOff x="9893507" y="2503358"/>
            <a:chExt cx="1998693" cy="155897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03FE91-F7CB-3DD0-E3ED-8FBD1C94B8B4}"/>
                </a:ext>
              </a:extLst>
            </p:cNvPr>
            <p:cNvSpPr/>
            <p:nvPr/>
          </p:nvSpPr>
          <p:spPr>
            <a:xfrm>
              <a:off x="9893507" y="2503358"/>
              <a:ext cx="1998691" cy="155897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B239D0-3017-358E-5933-33FD8D66779D}"/>
                </a:ext>
              </a:extLst>
            </p:cNvPr>
            <p:cNvSpPr txBox="1"/>
            <p:nvPr/>
          </p:nvSpPr>
          <p:spPr>
            <a:xfrm>
              <a:off x="9893510" y="2669700"/>
              <a:ext cx="1998690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dirty="0">
                  <a:solidFill>
                    <a:schemeClr val="bg1"/>
                  </a:solidFill>
                </a:rPr>
                <a:t>    🏆 PEAK MONTHS</a:t>
              </a:r>
            </a:p>
            <a:p>
              <a:endParaRPr lang="en-IN" sz="1400" dirty="0">
                <a:solidFill>
                  <a:schemeClr val="bg1"/>
                </a:solidFill>
              </a:endParaRPr>
            </a:p>
            <a:p>
              <a:r>
                <a:rPr lang="en-IN" sz="1000" dirty="0"/>
                <a:t>🥇 </a:t>
              </a:r>
              <a:r>
                <a:rPr lang="en-IN" sz="1000" b="1" dirty="0">
                  <a:solidFill>
                    <a:schemeClr val="bg1"/>
                  </a:solidFill>
                </a:rPr>
                <a:t>Jan '24 &amp; Jan '25:</a:t>
              </a:r>
              <a:r>
                <a:rPr lang="en-IN" sz="1000" dirty="0">
                  <a:solidFill>
                    <a:schemeClr val="bg1"/>
                  </a:solidFill>
                </a:rPr>
                <a:t> </a:t>
              </a:r>
              <a:r>
                <a:rPr lang="en-IN" sz="1000" b="1" dirty="0">
                  <a:solidFill>
                    <a:schemeClr val="bg1"/>
                  </a:solidFill>
                </a:rPr>
                <a:t>₹1.0 Lakhs</a:t>
              </a:r>
            </a:p>
            <a:p>
              <a:r>
                <a:rPr lang="en-IN" sz="1000" dirty="0"/>
                <a:t>🥈 </a:t>
              </a:r>
              <a:r>
                <a:rPr lang="en-IN" sz="1000" b="1" dirty="0">
                  <a:solidFill>
                    <a:schemeClr val="bg1"/>
                  </a:solidFill>
                </a:rPr>
                <a:t>Aug '24 &amp; Mar '25:</a:t>
              </a:r>
              <a:r>
                <a:rPr lang="en-IN" sz="1000" dirty="0">
                  <a:solidFill>
                    <a:schemeClr val="bg1"/>
                  </a:solidFill>
                </a:rPr>
                <a:t> </a:t>
              </a:r>
              <a:r>
                <a:rPr lang="en-IN" sz="1000" b="1" dirty="0">
                  <a:solidFill>
                    <a:schemeClr val="bg1"/>
                  </a:solidFill>
                </a:rPr>
                <a:t>₹1.0 Lakhs</a:t>
              </a:r>
            </a:p>
            <a:p>
              <a:r>
                <a:rPr lang="en-IN" sz="1000" dirty="0"/>
                <a:t>🥉</a:t>
              </a:r>
              <a:r>
                <a:rPr lang="en-IN" sz="1000" dirty="0">
                  <a:solidFill>
                    <a:schemeClr val="bg1"/>
                  </a:solidFill>
                </a:rPr>
                <a:t> </a:t>
              </a:r>
              <a:r>
                <a:rPr lang="en-IN" sz="1000" b="1" dirty="0">
                  <a:solidFill>
                    <a:schemeClr val="bg1"/>
                  </a:solidFill>
                </a:rPr>
                <a:t>May '24 / May '25:</a:t>
              </a:r>
              <a:r>
                <a:rPr lang="en-IN" sz="1000" dirty="0">
                  <a:solidFill>
                    <a:schemeClr val="bg1"/>
                  </a:solidFill>
                </a:rPr>
                <a:t> </a:t>
              </a:r>
              <a:r>
                <a:rPr lang="en-IN" sz="1000" b="1" dirty="0">
                  <a:solidFill>
                    <a:schemeClr val="bg1"/>
                  </a:solidFill>
                </a:rPr>
                <a:t>₹0.9 Lakhs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2161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7721D-70F0-1B5F-D7DA-83B7067EF64D}"/>
              </a:ext>
            </a:extLst>
          </p:cNvPr>
          <p:cNvSpPr/>
          <p:nvPr/>
        </p:nvSpPr>
        <p:spPr>
          <a:xfrm>
            <a:off x="0" y="0"/>
            <a:ext cx="12192000" cy="87830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1846B-7AB7-2E32-53A6-6886E78FCCBE}"/>
              </a:ext>
            </a:extLst>
          </p:cNvPr>
          <p:cNvSpPr txBox="1"/>
          <p:nvPr/>
        </p:nvSpPr>
        <p:spPr>
          <a:xfrm>
            <a:off x="336885" y="208319"/>
            <a:ext cx="8951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Q3: IMPACT OF DISCOUNTING ON PROFIT MARGINS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51B0555-6CFC-824E-F759-D36FF0910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5" y="1086624"/>
            <a:ext cx="7000696" cy="4140984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185478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A924B4-B637-CB84-D578-FCA9C241F820}"/>
              </a:ext>
            </a:extLst>
          </p:cNvPr>
          <p:cNvSpPr txBox="1"/>
          <p:nvPr/>
        </p:nvSpPr>
        <p:spPr>
          <a:xfrm>
            <a:off x="8295661" y="1199389"/>
            <a:ext cx="4174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Margin Erosion Analysis</a:t>
            </a:r>
            <a:endParaRPr lang="en-US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EB4AB9-C1AB-5783-C277-53A627A7B8BC}"/>
              </a:ext>
            </a:extLst>
          </p:cNvPr>
          <p:cNvGrpSpPr/>
          <p:nvPr/>
        </p:nvGrpSpPr>
        <p:grpSpPr>
          <a:xfrm>
            <a:off x="7398288" y="1568721"/>
            <a:ext cx="4416724" cy="772009"/>
            <a:chOff x="7398288" y="1568721"/>
            <a:chExt cx="4416724" cy="83086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9258B1-07AC-2972-C43D-1EF6B43BB6CA}"/>
                </a:ext>
              </a:extLst>
            </p:cNvPr>
            <p:cNvSpPr/>
            <p:nvPr/>
          </p:nvSpPr>
          <p:spPr>
            <a:xfrm>
              <a:off x="7398288" y="1568721"/>
              <a:ext cx="4416724" cy="8308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EA72A9-784F-7BF2-AC89-A936E3EBEC15}"/>
                </a:ext>
              </a:extLst>
            </p:cNvPr>
            <p:cNvSpPr/>
            <p:nvPr/>
          </p:nvSpPr>
          <p:spPr>
            <a:xfrm>
              <a:off x="7398288" y="1568722"/>
              <a:ext cx="158452" cy="81664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7A37D4-E9E1-0751-747D-CBDB5BF81B54}"/>
              </a:ext>
            </a:extLst>
          </p:cNvPr>
          <p:cNvGrpSpPr/>
          <p:nvPr/>
        </p:nvGrpSpPr>
        <p:grpSpPr>
          <a:xfrm>
            <a:off x="7398288" y="2491751"/>
            <a:ext cx="4416724" cy="766605"/>
            <a:chOff x="7398288" y="2491751"/>
            <a:chExt cx="4416724" cy="83086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3D76DE-CC6B-5AE4-6502-60E374900666}"/>
                </a:ext>
              </a:extLst>
            </p:cNvPr>
            <p:cNvSpPr/>
            <p:nvPr/>
          </p:nvSpPr>
          <p:spPr>
            <a:xfrm>
              <a:off x="7398288" y="2491751"/>
              <a:ext cx="4416724" cy="83086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7DF4FA-7265-CC6D-77C3-D782423AB146}"/>
                </a:ext>
              </a:extLst>
            </p:cNvPr>
            <p:cNvSpPr/>
            <p:nvPr/>
          </p:nvSpPr>
          <p:spPr>
            <a:xfrm>
              <a:off x="7398288" y="2491751"/>
              <a:ext cx="158452" cy="83086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C752DB-4AF9-1043-186D-00236CB2E0D6}"/>
              </a:ext>
            </a:extLst>
          </p:cNvPr>
          <p:cNvGrpSpPr/>
          <p:nvPr/>
        </p:nvGrpSpPr>
        <p:grpSpPr>
          <a:xfrm>
            <a:off x="7398288" y="3406686"/>
            <a:ext cx="4416724" cy="737976"/>
            <a:chOff x="7398288" y="3442956"/>
            <a:chExt cx="4416724" cy="73797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995DC7-3351-79C0-E5D4-7220E3FEB04B}"/>
                </a:ext>
              </a:extLst>
            </p:cNvPr>
            <p:cNvSpPr/>
            <p:nvPr/>
          </p:nvSpPr>
          <p:spPr>
            <a:xfrm>
              <a:off x="7398288" y="3442957"/>
              <a:ext cx="4416724" cy="73797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0079516-F775-043A-51E6-19DA92B595B5}"/>
                </a:ext>
              </a:extLst>
            </p:cNvPr>
            <p:cNvSpPr/>
            <p:nvPr/>
          </p:nvSpPr>
          <p:spPr>
            <a:xfrm>
              <a:off x="7398288" y="3442956"/>
              <a:ext cx="158452" cy="73797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E9D943-0E56-E7F3-EA83-351268D14030}"/>
              </a:ext>
            </a:extLst>
          </p:cNvPr>
          <p:cNvGrpSpPr/>
          <p:nvPr/>
        </p:nvGrpSpPr>
        <p:grpSpPr>
          <a:xfrm>
            <a:off x="7398288" y="4268858"/>
            <a:ext cx="4416724" cy="835105"/>
            <a:chOff x="7398288" y="4268858"/>
            <a:chExt cx="4416724" cy="83510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CF8EC6-AA4F-FD1D-69FE-5203CD8ABF06}"/>
                </a:ext>
              </a:extLst>
            </p:cNvPr>
            <p:cNvSpPr/>
            <p:nvPr/>
          </p:nvSpPr>
          <p:spPr>
            <a:xfrm>
              <a:off x="7398288" y="4268858"/>
              <a:ext cx="4416724" cy="8166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F8C7854-46EF-BF73-CF93-5B4E0AE3823E}"/>
                </a:ext>
              </a:extLst>
            </p:cNvPr>
            <p:cNvSpPr/>
            <p:nvPr/>
          </p:nvSpPr>
          <p:spPr>
            <a:xfrm>
              <a:off x="7398288" y="4273099"/>
              <a:ext cx="158452" cy="8308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6B34EB-5EFA-4A1A-44C9-4337A919C981}"/>
              </a:ext>
            </a:extLst>
          </p:cNvPr>
          <p:cNvSpPr txBox="1"/>
          <p:nvPr/>
        </p:nvSpPr>
        <p:spPr>
          <a:xfrm>
            <a:off x="7676715" y="1592684"/>
            <a:ext cx="1397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No Discount</a:t>
            </a:r>
            <a:endParaRPr lang="en-US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ECA875-49A7-7509-ABA7-A143621DAD1D}"/>
              </a:ext>
            </a:extLst>
          </p:cNvPr>
          <p:cNvSpPr txBox="1"/>
          <p:nvPr/>
        </p:nvSpPr>
        <p:spPr>
          <a:xfrm>
            <a:off x="7676714" y="2525124"/>
            <a:ext cx="1559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Low (1–15%)</a:t>
            </a:r>
            <a:endParaRPr lang="en-US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233DD8-61AF-D1C7-3695-7C624D06F9A7}"/>
              </a:ext>
            </a:extLst>
          </p:cNvPr>
          <p:cNvSpPr txBox="1"/>
          <p:nvPr/>
        </p:nvSpPr>
        <p:spPr>
          <a:xfrm>
            <a:off x="7676715" y="3437119"/>
            <a:ext cx="1559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Mid (16–25%)</a:t>
            </a:r>
            <a:endParaRPr lang="en-US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BB46AF-CD51-195D-0E6F-76C7BD896F13}"/>
              </a:ext>
            </a:extLst>
          </p:cNvPr>
          <p:cNvSpPr txBox="1"/>
          <p:nvPr/>
        </p:nvSpPr>
        <p:spPr>
          <a:xfrm>
            <a:off x="7684870" y="4276526"/>
            <a:ext cx="1742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High (&gt;25%)</a:t>
            </a:r>
            <a:endParaRPr lang="en-US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E3E423-ED95-1FC1-99B0-A796B41D9BDA}"/>
              </a:ext>
            </a:extLst>
          </p:cNvPr>
          <p:cNvSpPr txBox="1"/>
          <p:nvPr/>
        </p:nvSpPr>
        <p:spPr>
          <a:xfrm>
            <a:off x="10224575" y="1746209"/>
            <a:ext cx="1590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50"/>
                </a:solidFill>
              </a:rPr>
              <a:t>51.51%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B34BC5-A489-8724-7D83-3062FEFC58B3}"/>
              </a:ext>
            </a:extLst>
          </p:cNvPr>
          <p:cNvSpPr txBox="1"/>
          <p:nvPr/>
        </p:nvSpPr>
        <p:spPr>
          <a:xfrm>
            <a:off x="10224575" y="2619721"/>
            <a:ext cx="1121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B0F0"/>
                </a:solidFill>
              </a:rPr>
              <a:t>31.31% </a:t>
            </a:r>
            <a:endParaRPr lang="en-US" sz="2400" b="1" dirty="0">
              <a:solidFill>
                <a:srgbClr val="00B0F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66A16B-443B-F4C2-C4A8-0D7FA68D1454}"/>
              </a:ext>
            </a:extLst>
          </p:cNvPr>
          <p:cNvSpPr txBox="1"/>
          <p:nvPr/>
        </p:nvSpPr>
        <p:spPr>
          <a:xfrm>
            <a:off x="10224575" y="3550939"/>
            <a:ext cx="1262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10.51%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F11E6D-1585-2431-7650-FFC760A11C36}"/>
              </a:ext>
            </a:extLst>
          </p:cNvPr>
          <p:cNvSpPr txBox="1"/>
          <p:nvPr/>
        </p:nvSpPr>
        <p:spPr>
          <a:xfrm>
            <a:off x="10224575" y="4457698"/>
            <a:ext cx="1121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-2.05%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830D200-B1FD-D5EC-76BF-C04998EF1B38}"/>
              </a:ext>
            </a:extLst>
          </p:cNvPr>
          <p:cNvSpPr txBox="1"/>
          <p:nvPr/>
        </p:nvSpPr>
        <p:spPr>
          <a:xfrm>
            <a:off x="7836575" y="2063731"/>
            <a:ext cx="1146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949 </a:t>
            </a:r>
            <a:r>
              <a:rPr lang="en-IN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txns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14EFA0-DA60-FE57-06AB-59D75B4F505B}"/>
              </a:ext>
            </a:extLst>
          </p:cNvPr>
          <p:cNvSpPr txBox="1"/>
          <p:nvPr/>
        </p:nvSpPr>
        <p:spPr>
          <a:xfrm>
            <a:off x="7744932" y="2987874"/>
            <a:ext cx="14300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1,973 </a:t>
            </a:r>
            <a:r>
              <a:rPr lang="en-IN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txns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818231-DDF3-361F-0C13-5F3AEEFCC62A}"/>
              </a:ext>
            </a:extLst>
          </p:cNvPr>
          <p:cNvSpPr txBox="1"/>
          <p:nvPr/>
        </p:nvSpPr>
        <p:spPr>
          <a:xfrm>
            <a:off x="7773122" y="3837727"/>
            <a:ext cx="12578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1,395 </a:t>
            </a:r>
            <a:r>
              <a:rPr lang="en-IN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txns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879330-3AE4-AF47-44DF-8CCE4FBE593C}"/>
              </a:ext>
            </a:extLst>
          </p:cNvPr>
          <p:cNvSpPr txBox="1"/>
          <p:nvPr/>
        </p:nvSpPr>
        <p:spPr>
          <a:xfrm>
            <a:off x="7836575" y="4759461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683 </a:t>
            </a:r>
            <a:r>
              <a:rPr lang="en-IN" sz="12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txns</a:t>
            </a:r>
            <a:endParaRPr lang="en-US" sz="1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CE22C7-3FE9-2FCF-31E6-7F63E681BF8C}"/>
              </a:ext>
            </a:extLst>
          </p:cNvPr>
          <p:cNvSpPr/>
          <p:nvPr/>
        </p:nvSpPr>
        <p:spPr>
          <a:xfrm>
            <a:off x="376988" y="5365630"/>
            <a:ext cx="11438024" cy="136297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3356FD-6309-3367-F51B-E914187D2000}"/>
              </a:ext>
            </a:extLst>
          </p:cNvPr>
          <p:cNvSpPr txBox="1"/>
          <p:nvPr/>
        </p:nvSpPr>
        <p:spPr>
          <a:xfrm>
            <a:off x="376988" y="5620993"/>
            <a:ext cx="1143802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C900"/>
                </a:solidFill>
              </a:rPr>
              <a:t>DISCOUNT POLICY RECOMMENDATION: </a:t>
            </a:r>
            <a:r>
              <a:rPr lang="en-IN" sz="1400" dirty="0">
                <a:solidFill>
                  <a:schemeClr val="bg1"/>
                </a:solidFill>
              </a:rPr>
              <a:t>Cap promotional discounts strictly at </a:t>
            </a:r>
            <a:r>
              <a:rPr lang="en-IN" sz="1400" b="1" dirty="0">
                <a:solidFill>
                  <a:schemeClr val="bg1"/>
                </a:solidFill>
              </a:rPr>
              <a:t>15%–20%</a:t>
            </a:r>
            <a:r>
              <a:rPr lang="en-IN" sz="1400" dirty="0">
                <a:solidFill>
                  <a:schemeClr val="bg1"/>
                </a:solidFill>
              </a:rPr>
              <a:t> to protect a minimum </a:t>
            </a:r>
            <a:r>
              <a:rPr lang="en-IN" sz="1400" b="1" dirty="0">
                <a:solidFill>
                  <a:schemeClr val="bg1"/>
                </a:solidFill>
              </a:rPr>
              <a:t>25%–30% profit margin floor</a:t>
            </a:r>
            <a:r>
              <a:rPr lang="en-IN" sz="1400" dirty="0">
                <a:solidFill>
                  <a:schemeClr val="bg1"/>
                </a:solidFill>
              </a:rPr>
              <a:t>. Deep discounts (&gt;25%) destroy business value by pushing margins into negative territory (</a:t>
            </a:r>
            <a:r>
              <a:rPr lang="en-IN" sz="1400" b="1" dirty="0">
                <a:solidFill>
                  <a:schemeClr val="bg1"/>
                </a:solidFill>
              </a:rPr>
              <a:t>-2.05%</a:t>
            </a:r>
            <a:r>
              <a:rPr lang="en-IN" sz="1400" dirty="0">
                <a:solidFill>
                  <a:schemeClr val="bg1"/>
                </a:solidFill>
              </a:rPr>
              <a:t>). Transition to </a:t>
            </a:r>
            <a:r>
              <a:rPr lang="en-IN" sz="1400" b="1" dirty="0">
                <a:solidFill>
                  <a:schemeClr val="bg1"/>
                </a:solidFill>
              </a:rPr>
              <a:t>"Smart Incentives"</a:t>
            </a:r>
            <a:r>
              <a:rPr lang="en-IN" sz="1400" dirty="0">
                <a:solidFill>
                  <a:schemeClr val="bg1"/>
                </a:solidFill>
              </a:rPr>
              <a:t>: Offer a 15% welcome discount for new shoppers, and loyalty points for returning customers instead of flat percentage-off deals.</a:t>
            </a:r>
          </a:p>
          <a:p>
            <a:endParaRPr lang="en-IN" sz="1600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rgbClr val="FFC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4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3D96AC-B768-03FC-4197-3011E55D776B}"/>
              </a:ext>
            </a:extLst>
          </p:cNvPr>
          <p:cNvSpPr/>
          <p:nvPr/>
        </p:nvSpPr>
        <p:spPr>
          <a:xfrm>
            <a:off x="0" y="0"/>
            <a:ext cx="12192000" cy="9425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231091-E273-2816-99F4-5339CF19A3B6}"/>
              </a:ext>
            </a:extLst>
          </p:cNvPr>
          <p:cNvSpPr txBox="1"/>
          <p:nvPr/>
        </p:nvSpPr>
        <p:spPr>
          <a:xfrm>
            <a:off x="310551" y="272911"/>
            <a:ext cx="8471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Q4: STORE PERFORMANCE — TOP 5 &amp; BOTTOM 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70CC864-7CC7-67A9-8D71-62F4337B6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16" y="1117273"/>
            <a:ext cx="5624423" cy="3488947"/>
          </a:xfrm>
          <a:prstGeom prst="rect">
            <a:avLst/>
          </a:prstGeom>
          <a:noFill/>
          <a:effectLst>
            <a:outerShdw dist="38100" dir="5400000" sx="104418" sy="104418" algn="t" rotWithShape="0">
              <a:prstClr val="black">
                <a:alpha val="40000"/>
              </a:prstClr>
            </a:outerShdw>
            <a:softEdge rad="149826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57D7115-830A-8FE2-4850-C61F7C865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21647"/>
            <a:ext cx="5785449" cy="3488947"/>
          </a:xfrm>
          <a:prstGeom prst="rect">
            <a:avLst/>
          </a:prstGeom>
          <a:noFill/>
          <a:effectLst>
            <a:outerShdw dist="38100" dir="5400000" sx="104450" sy="104450" algn="t" rotWithShape="0">
              <a:prstClr val="black">
                <a:alpha val="40000"/>
              </a:prstClr>
            </a:outerShdw>
            <a:softEdge rad="139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7AA1775-BE8A-7555-AC62-232F94A4BFA0}"/>
              </a:ext>
            </a:extLst>
          </p:cNvPr>
          <p:cNvSpPr/>
          <p:nvPr/>
        </p:nvSpPr>
        <p:spPr>
          <a:xfrm>
            <a:off x="310551" y="4865299"/>
            <a:ext cx="11570898" cy="6421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18E01-AEC9-B16B-70EC-16B3524372EA}"/>
              </a:ext>
            </a:extLst>
          </p:cNvPr>
          <p:cNvSpPr txBox="1"/>
          <p:nvPr/>
        </p:nvSpPr>
        <p:spPr>
          <a:xfrm>
            <a:off x="310551" y="4869099"/>
            <a:ext cx="115708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Performance Gap: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Top 5 stores average </a:t>
            </a:r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₹5.3L–₹5.5L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revenue, whereas the Bottom 5 stores generate only </a:t>
            </a:r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₹2.9L–₹3.4L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— representing a </a:t>
            </a:r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45% revenue drop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506F5-94DF-BC28-E5AF-3073BFAF7A4B}"/>
              </a:ext>
            </a:extLst>
          </p:cNvPr>
          <p:cNvSpPr txBox="1"/>
          <p:nvPr/>
        </p:nvSpPr>
        <p:spPr>
          <a:xfrm>
            <a:off x="310551" y="5507453"/>
            <a:ext cx="5917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ROOT CAUSES &amp; QUICK WINS FOR UNDERPERFORMERS</a:t>
            </a:r>
            <a:endParaRPr lang="en-US" sz="1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AD9480-0A62-0B6A-E7E5-8A493820FF0C}"/>
              </a:ext>
            </a:extLst>
          </p:cNvPr>
          <p:cNvSpPr/>
          <p:nvPr/>
        </p:nvSpPr>
        <p:spPr>
          <a:xfrm>
            <a:off x="310551" y="5815230"/>
            <a:ext cx="2639683" cy="844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3295D0-DA03-137F-B7BD-4CF785CC373E}"/>
              </a:ext>
            </a:extLst>
          </p:cNvPr>
          <p:cNvSpPr/>
          <p:nvPr/>
        </p:nvSpPr>
        <p:spPr>
          <a:xfrm>
            <a:off x="3026433" y="5815230"/>
            <a:ext cx="2639683" cy="844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AE0E55-7337-AB3E-0909-3D266DBA964F}"/>
              </a:ext>
            </a:extLst>
          </p:cNvPr>
          <p:cNvSpPr/>
          <p:nvPr/>
        </p:nvSpPr>
        <p:spPr>
          <a:xfrm>
            <a:off x="5742315" y="5796564"/>
            <a:ext cx="3104075" cy="844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CDCB8D-40C6-265E-CD91-1120BADC63AA}"/>
              </a:ext>
            </a:extLst>
          </p:cNvPr>
          <p:cNvSpPr/>
          <p:nvPr/>
        </p:nvSpPr>
        <p:spPr>
          <a:xfrm>
            <a:off x="8922589" y="5796564"/>
            <a:ext cx="2958860" cy="8443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05564E-B530-D28E-16C9-3198C6F4041B}"/>
              </a:ext>
            </a:extLst>
          </p:cNvPr>
          <p:cNvSpPr txBox="1"/>
          <p:nvPr/>
        </p:nvSpPr>
        <p:spPr>
          <a:xfrm>
            <a:off x="332116" y="5815231"/>
            <a:ext cx="2618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📍 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Low Brand Visibility: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 Launch hyper-local digital and social media marketing campaigns for Tier-2/3 store catchment areas.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1A4378-380B-975C-89B9-BC40BEC442AB}"/>
              </a:ext>
            </a:extLst>
          </p:cNvPr>
          <p:cNvSpPr txBox="1"/>
          <p:nvPr/>
        </p:nvSpPr>
        <p:spPr>
          <a:xfrm>
            <a:off x="3058782" y="5883865"/>
            <a:ext cx="2639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📦 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Product Assortment: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 Expand high-demand, fast-moving SKUs to inventory-constrained outlets.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31FD2-D782-B4FE-7992-90F5F9220277}"/>
              </a:ext>
            </a:extLst>
          </p:cNvPr>
          <p:cNvSpPr txBox="1"/>
          <p:nvPr/>
        </p:nvSpPr>
        <p:spPr>
          <a:xfrm>
            <a:off x="5807014" y="5883865"/>
            <a:ext cx="3039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👥 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Staff Turnover: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 Introduce monthly store incentives and customer service training programs to retain quality staff.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BA18AA-373C-0984-C6AA-00DB7856A05B}"/>
              </a:ext>
            </a:extLst>
          </p:cNvPr>
          <p:cNvSpPr txBox="1"/>
          <p:nvPr/>
        </p:nvSpPr>
        <p:spPr>
          <a:xfrm>
            <a:off x="8988724" y="5883865"/>
            <a:ext cx="2892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💳 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Digital Payments: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 Implement QR-pay cashback deals to encourage digital adoption in regional outlets.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789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3A7AAF-DEF3-AAB3-43E1-ED6F0456B050}"/>
              </a:ext>
            </a:extLst>
          </p:cNvPr>
          <p:cNvSpPr/>
          <p:nvPr/>
        </p:nvSpPr>
        <p:spPr>
          <a:xfrm>
            <a:off x="0" y="0"/>
            <a:ext cx="12192000" cy="87464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4DEA6-F52E-8DB0-AD7C-B96483306278}"/>
              </a:ext>
            </a:extLst>
          </p:cNvPr>
          <p:cNvSpPr txBox="1"/>
          <p:nvPr/>
        </p:nvSpPr>
        <p:spPr>
          <a:xfrm>
            <a:off x="165652" y="206488"/>
            <a:ext cx="11860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Q5: CUSTOMER SEGMENTATION &amp; TARGETED STRATEGIES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85C755C-D2DD-40EC-D29C-BD0F1A5C75BE}"/>
              </a:ext>
            </a:extLst>
          </p:cNvPr>
          <p:cNvGrpSpPr/>
          <p:nvPr/>
        </p:nvGrpSpPr>
        <p:grpSpPr>
          <a:xfrm>
            <a:off x="384311" y="1007165"/>
            <a:ext cx="3604593" cy="5420139"/>
            <a:chOff x="304798" y="1007165"/>
            <a:chExt cx="3604593" cy="54201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831A99-1669-E35E-45DC-2C7ECD1871C6}"/>
                </a:ext>
              </a:extLst>
            </p:cNvPr>
            <p:cNvSpPr/>
            <p:nvPr/>
          </p:nvSpPr>
          <p:spPr>
            <a:xfrm>
              <a:off x="304800" y="1007165"/>
              <a:ext cx="3604591" cy="542013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F38ACE-A87F-79D4-22BC-FEED8C95FD8C}"/>
                </a:ext>
              </a:extLst>
            </p:cNvPr>
            <p:cNvSpPr/>
            <p:nvPr/>
          </p:nvSpPr>
          <p:spPr>
            <a:xfrm>
              <a:off x="304798" y="1007165"/>
              <a:ext cx="3600000" cy="251792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95F3D1-F490-3B85-B0E7-2F86C3CDB3BA}"/>
              </a:ext>
            </a:extLst>
          </p:cNvPr>
          <p:cNvGrpSpPr/>
          <p:nvPr/>
        </p:nvGrpSpPr>
        <p:grpSpPr>
          <a:xfrm>
            <a:off x="4262606" y="1007165"/>
            <a:ext cx="3635690" cy="5420139"/>
            <a:chOff x="4262606" y="1007165"/>
            <a:chExt cx="3635690" cy="54201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F80F953-4BB5-A8B8-051D-A05817755560}"/>
                </a:ext>
              </a:extLst>
            </p:cNvPr>
            <p:cNvSpPr/>
            <p:nvPr/>
          </p:nvSpPr>
          <p:spPr>
            <a:xfrm>
              <a:off x="4267199" y="1007165"/>
              <a:ext cx="3631097" cy="542013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5F0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306C43-AC33-4475-6F2F-C6D0E9357C08}"/>
                </a:ext>
              </a:extLst>
            </p:cNvPr>
            <p:cNvSpPr/>
            <p:nvPr/>
          </p:nvSpPr>
          <p:spPr>
            <a:xfrm>
              <a:off x="4262606" y="1007165"/>
              <a:ext cx="3635690" cy="251792"/>
            </a:xfrm>
            <a:prstGeom prst="rect">
              <a:avLst/>
            </a:prstGeom>
            <a:solidFill>
              <a:srgbClr val="15F0F8"/>
            </a:solidFill>
            <a:ln>
              <a:solidFill>
                <a:srgbClr val="15F0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9218096-60FF-EC4B-A4B4-84E92AAD6F36}"/>
              </a:ext>
            </a:extLst>
          </p:cNvPr>
          <p:cNvGrpSpPr/>
          <p:nvPr/>
        </p:nvGrpSpPr>
        <p:grpSpPr>
          <a:xfrm>
            <a:off x="8251511" y="1007165"/>
            <a:ext cx="3635691" cy="5420139"/>
            <a:chOff x="8251511" y="1007165"/>
            <a:chExt cx="3635691" cy="54201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F552C3D-C7C1-D2B9-22F5-DA912889617D}"/>
                </a:ext>
              </a:extLst>
            </p:cNvPr>
            <p:cNvSpPr/>
            <p:nvPr/>
          </p:nvSpPr>
          <p:spPr>
            <a:xfrm>
              <a:off x="8256104" y="1007165"/>
              <a:ext cx="3631098" cy="5420139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E219B7-B2AB-CB13-3EDE-C97DD3D29594}"/>
                </a:ext>
              </a:extLst>
            </p:cNvPr>
            <p:cNvSpPr/>
            <p:nvPr/>
          </p:nvSpPr>
          <p:spPr>
            <a:xfrm>
              <a:off x="8251511" y="1007165"/>
              <a:ext cx="3631099" cy="251792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Graphic 13" descr="Crown with solid fill">
            <a:extLst>
              <a:ext uri="{FF2B5EF4-FFF2-40B4-BE49-F238E27FC236}">
                <a16:creationId xmlns:a16="http://schemas.microsoft.com/office/drawing/2014/main" id="{880F5FCE-5A00-EB32-9F29-723ED090A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2284" y="1286476"/>
            <a:ext cx="806400" cy="806400"/>
          </a:xfrm>
          <a:prstGeom prst="rect">
            <a:avLst/>
          </a:prstGeom>
        </p:spPr>
      </p:pic>
      <p:pic>
        <p:nvPicPr>
          <p:cNvPr id="16" name="Graphic 15" descr="Help with solid fill">
            <a:extLst>
              <a:ext uri="{FF2B5EF4-FFF2-40B4-BE49-F238E27FC236}">
                <a16:creationId xmlns:a16="http://schemas.microsoft.com/office/drawing/2014/main" id="{A567843C-A48E-1B06-9637-CD19844DB5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9970" y="1317444"/>
            <a:ext cx="752059" cy="752059"/>
          </a:xfrm>
          <a:prstGeom prst="rect">
            <a:avLst/>
          </a:prstGeom>
        </p:spPr>
      </p:pic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11CCE6A-AF78-2671-3921-574F1E0897A0}"/>
              </a:ext>
            </a:extLst>
          </p:cNvPr>
          <p:cNvSpPr/>
          <p:nvPr/>
        </p:nvSpPr>
        <p:spPr>
          <a:xfrm>
            <a:off x="9753599" y="1391479"/>
            <a:ext cx="742389" cy="56984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403FA6-34B0-0E97-A8D8-B1C8B00482D3}"/>
              </a:ext>
            </a:extLst>
          </p:cNvPr>
          <p:cNvSpPr txBox="1"/>
          <p:nvPr/>
        </p:nvSpPr>
        <p:spPr>
          <a:xfrm>
            <a:off x="1305339" y="2120395"/>
            <a:ext cx="1855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Loyal Champions 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1591E3-D379-3232-C3C9-D7F6F2BFDC79}"/>
              </a:ext>
            </a:extLst>
          </p:cNvPr>
          <p:cNvSpPr txBox="1"/>
          <p:nvPr/>
        </p:nvSpPr>
        <p:spPr>
          <a:xfrm>
            <a:off x="5144516" y="2074164"/>
            <a:ext cx="26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5F0F8"/>
                </a:solidFill>
              </a:rPr>
              <a:t>Occasional Buyers </a:t>
            </a:r>
            <a:endParaRPr lang="en-US" b="1" dirty="0">
              <a:solidFill>
                <a:srgbClr val="15F0F8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D20CC6-860A-2C28-DBFB-5C54804691EA}"/>
              </a:ext>
            </a:extLst>
          </p:cNvPr>
          <p:cNvSpPr txBox="1"/>
          <p:nvPr/>
        </p:nvSpPr>
        <p:spPr>
          <a:xfrm>
            <a:off x="9351067" y="206555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New Explorers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D1124-80DD-13E5-F65D-1EC356494E0A}"/>
              </a:ext>
            </a:extLst>
          </p:cNvPr>
          <p:cNvSpPr txBox="1"/>
          <p:nvPr/>
        </p:nvSpPr>
        <p:spPr>
          <a:xfrm>
            <a:off x="1466620" y="2506168"/>
            <a:ext cx="2385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24% of customers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B06BEE-CCA1-B6AF-4B0E-9287C0E7FD8A}"/>
              </a:ext>
            </a:extLst>
          </p:cNvPr>
          <p:cNvSpPr txBox="1"/>
          <p:nvPr/>
        </p:nvSpPr>
        <p:spPr>
          <a:xfrm>
            <a:off x="5342879" y="2506168"/>
            <a:ext cx="1744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23.76% of customers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1B8306-4D1C-3B3E-9BA0-791D1B5A55FC}"/>
              </a:ext>
            </a:extLst>
          </p:cNvPr>
          <p:cNvSpPr txBox="1"/>
          <p:nvPr/>
        </p:nvSpPr>
        <p:spPr>
          <a:xfrm>
            <a:off x="9443832" y="2455353"/>
            <a:ext cx="18145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48.20% of customers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6BBAD2-2778-5598-D8F2-4D7CB648CE2F}"/>
              </a:ext>
            </a:extLst>
          </p:cNvPr>
          <p:cNvSpPr txBox="1"/>
          <p:nvPr/>
        </p:nvSpPr>
        <p:spPr>
          <a:xfrm>
            <a:off x="569844" y="3114261"/>
            <a:ext cx="318052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C900"/>
                </a:solidFill>
              </a:rPr>
              <a:t>PROFILE:</a:t>
            </a:r>
            <a:r>
              <a:rPr lang="en-IN" sz="1400" dirty="0">
                <a:solidFill>
                  <a:srgbClr val="FFC900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Returning customers, Card/Digital focus, </a:t>
            </a:r>
            <a:r>
              <a:rPr lang="en-IN" sz="1200" b="1" dirty="0">
                <a:solidFill>
                  <a:schemeClr val="bg1">
                    <a:lumMod val="85000"/>
                  </a:schemeClr>
                </a:solidFill>
              </a:rPr>
              <a:t>AOV: ₹4,243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B0BD6C-D0C5-C60B-A814-6A61B1571636}"/>
              </a:ext>
            </a:extLst>
          </p:cNvPr>
          <p:cNvSpPr txBox="1"/>
          <p:nvPr/>
        </p:nvSpPr>
        <p:spPr>
          <a:xfrm>
            <a:off x="569843" y="3861348"/>
            <a:ext cx="31805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C000"/>
                </a:solidFill>
              </a:rPr>
              <a:t>BEHAVIOR:</a:t>
            </a:r>
            <a:r>
              <a:rPr lang="en-IN" sz="1400" dirty="0">
                <a:solidFill>
                  <a:srgbClr val="FFC000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Repeat purchases, high volume driver (</a:t>
            </a:r>
            <a:r>
              <a:rPr lang="en-IN" sz="1200" b="1" dirty="0">
                <a:solidFill>
                  <a:schemeClr val="bg1">
                    <a:lumMod val="85000"/>
                  </a:schemeClr>
                </a:solidFill>
              </a:rPr>
              <a:t>₹1.01 Cr Revenue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en-IN" sz="1200" b="1" dirty="0">
                <a:solidFill>
                  <a:schemeClr val="bg1">
                    <a:lumMod val="85000"/>
                  </a:schemeClr>
                </a:solidFill>
              </a:rPr>
              <a:t>26.70% Profit Margin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E05569-5D16-2109-7AA7-90B12A955477}"/>
              </a:ext>
            </a:extLst>
          </p:cNvPr>
          <p:cNvSpPr txBox="1"/>
          <p:nvPr/>
        </p:nvSpPr>
        <p:spPr>
          <a:xfrm>
            <a:off x="569843" y="4608435"/>
            <a:ext cx="31805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C000"/>
                </a:solidFill>
              </a:rPr>
              <a:t>STRATEGY:</a:t>
            </a:r>
            <a:r>
              <a:rPr lang="en-IN" sz="1400" dirty="0">
                <a:solidFill>
                  <a:srgbClr val="FFC000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Exclusive VIP previews, early access, birthday rewards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2FE5AE-5DB4-5495-0CB8-4D2E458B6F77}"/>
              </a:ext>
            </a:extLst>
          </p:cNvPr>
          <p:cNvSpPr/>
          <p:nvPr/>
        </p:nvSpPr>
        <p:spPr>
          <a:xfrm>
            <a:off x="569843" y="5571524"/>
            <a:ext cx="3148406" cy="484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6B4EDE-4D79-5DBD-6C0A-E83C595044C4}"/>
              </a:ext>
            </a:extLst>
          </p:cNvPr>
          <p:cNvSpPr txBox="1"/>
          <p:nvPr/>
        </p:nvSpPr>
        <p:spPr>
          <a:xfrm>
            <a:off x="751712" y="5675383"/>
            <a:ext cx="2784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RECOMMENDED DISCOUNT: ≤10% max</a:t>
            </a:r>
            <a:endParaRPr lang="en-US" sz="12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8CC0E7-BBB7-23EA-C5C2-00259B93C098}"/>
              </a:ext>
            </a:extLst>
          </p:cNvPr>
          <p:cNvSpPr txBox="1"/>
          <p:nvPr/>
        </p:nvSpPr>
        <p:spPr>
          <a:xfrm>
            <a:off x="4545496" y="3114261"/>
            <a:ext cx="31540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15F0F8"/>
                </a:solidFill>
              </a:rPr>
              <a:t>PROFILE:</a:t>
            </a:r>
            <a:r>
              <a:rPr lang="en-IN" sz="1400" dirty="0">
                <a:solidFill>
                  <a:srgbClr val="15F0F8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Seasonal returning buyers, </a:t>
            </a:r>
            <a:r>
              <a:rPr lang="en-IN" sz="1200" b="1" dirty="0">
                <a:solidFill>
                  <a:schemeClr val="bg1">
                    <a:lumMod val="85000"/>
                  </a:schemeClr>
                </a:solidFill>
              </a:rPr>
              <a:t>AOV: ₹4,200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65A26C-BC6E-C4CE-B941-1D4FD8C2C655}"/>
              </a:ext>
            </a:extLst>
          </p:cNvPr>
          <p:cNvSpPr txBox="1"/>
          <p:nvPr/>
        </p:nvSpPr>
        <p:spPr>
          <a:xfrm>
            <a:off x="4518991" y="3791369"/>
            <a:ext cx="31540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15F0F8"/>
                </a:solidFill>
              </a:rPr>
              <a:t>BEHAVIOR:</a:t>
            </a:r>
            <a:r>
              <a:rPr lang="en-IN" sz="1400" dirty="0">
                <a:solidFill>
                  <a:srgbClr val="15F0F8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Responds well to targeted promotions during festive seasons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702FFD-4823-D421-8DA6-179AB8779F06}"/>
              </a:ext>
            </a:extLst>
          </p:cNvPr>
          <p:cNvSpPr txBox="1"/>
          <p:nvPr/>
        </p:nvSpPr>
        <p:spPr>
          <a:xfrm>
            <a:off x="4545496" y="4608435"/>
            <a:ext cx="31540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15F0F8"/>
                </a:solidFill>
              </a:rPr>
              <a:t>STRATEGY:</a:t>
            </a:r>
            <a:r>
              <a:rPr lang="en-IN" sz="1400" dirty="0">
                <a:solidFill>
                  <a:srgbClr val="15F0F8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Pre-festive email alerts, "Complete the Look" product bundles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7AA412-C60D-BE9E-3142-082B0DAFD1B8}"/>
              </a:ext>
            </a:extLst>
          </p:cNvPr>
          <p:cNvSpPr/>
          <p:nvPr/>
        </p:nvSpPr>
        <p:spPr>
          <a:xfrm>
            <a:off x="4518991" y="5571522"/>
            <a:ext cx="3081825" cy="48471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15F0F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8AFE3F-5410-638E-A6D3-FD99FE2A578F}"/>
              </a:ext>
            </a:extLst>
          </p:cNvPr>
          <p:cNvSpPr txBox="1"/>
          <p:nvPr/>
        </p:nvSpPr>
        <p:spPr>
          <a:xfrm>
            <a:off x="4694931" y="5668757"/>
            <a:ext cx="2905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RECOMMENDED DISCOUNT:</a:t>
            </a:r>
            <a:r>
              <a:rPr lang="en-IN" sz="1200" dirty="0"/>
              <a:t> </a:t>
            </a:r>
            <a:r>
              <a:rPr lang="en-IN" sz="1200" b="1" dirty="0"/>
              <a:t>15%–20%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591AEA-FFE8-4B01-344A-61FE1736E838}"/>
              </a:ext>
            </a:extLst>
          </p:cNvPr>
          <p:cNvSpPr txBox="1"/>
          <p:nvPr/>
        </p:nvSpPr>
        <p:spPr>
          <a:xfrm>
            <a:off x="8480113" y="3114261"/>
            <a:ext cx="31738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B050"/>
                </a:solidFill>
              </a:rPr>
              <a:t>PROFILE:</a:t>
            </a:r>
            <a:r>
              <a:rPr lang="en-IN" sz="1400" dirty="0">
                <a:solidFill>
                  <a:srgbClr val="00B050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First-time buyers, High AOV (</a:t>
            </a:r>
            <a:r>
              <a:rPr lang="en-IN" sz="1200" b="1" dirty="0">
                <a:solidFill>
                  <a:schemeClr val="bg1">
                    <a:lumMod val="85000"/>
                  </a:schemeClr>
                </a:solidFill>
              </a:rPr>
              <a:t>₹4,287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 — </a:t>
            </a:r>
            <a:r>
              <a:rPr lang="en-IN" sz="1200" i="1" dirty="0">
                <a:solidFill>
                  <a:schemeClr val="bg1">
                    <a:lumMod val="85000"/>
                  </a:schemeClr>
                </a:solidFill>
              </a:rPr>
              <a:t>Highest across segments!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E3D179-AD86-D421-7A73-395769FCA5EA}"/>
              </a:ext>
            </a:extLst>
          </p:cNvPr>
          <p:cNvSpPr txBox="1"/>
          <p:nvPr/>
        </p:nvSpPr>
        <p:spPr>
          <a:xfrm>
            <a:off x="8480113" y="3861348"/>
            <a:ext cx="31738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B050"/>
                </a:solidFill>
              </a:rPr>
              <a:t>BEHAVIOR:</a:t>
            </a:r>
            <a:r>
              <a:rPr lang="en-IN" sz="1400" dirty="0">
                <a:solidFill>
                  <a:srgbClr val="00B050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First purchase often discount-driven (</a:t>
            </a:r>
            <a:r>
              <a:rPr lang="en-IN" sz="1200" b="1" dirty="0">
                <a:solidFill>
                  <a:schemeClr val="bg1">
                    <a:lumMod val="85000"/>
                  </a:schemeClr>
                </a:solidFill>
              </a:rPr>
              <a:t>14.16% Avg.  Discount</a:t>
            </a:r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), </a:t>
            </a:r>
            <a:r>
              <a:rPr lang="en-IN" sz="1200" b="1" dirty="0">
                <a:solidFill>
                  <a:schemeClr val="bg1">
                    <a:lumMod val="85000"/>
                  </a:schemeClr>
                </a:solidFill>
              </a:rPr>
              <a:t>₹1.03 Cr Revenue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D226D8-7AF9-60A3-3DA7-99551B2C1D34}"/>
              </a:ext>
            </a:extLst>
          </p:cNvPr>
          <p:cNvSpPr txBox="1"/>
          <p:nvPr/>
        </p:nvSpPr>
        <p:spPr>
          <a:xfrm>
            <a:off x="8480113" y="4608435"/>
            <a:ext cx="31738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00B050"/>
                </a:solidFill>
              </a:rPr>
              <a:t>STRATEGY:</a:t>
            </a:r>
            <a:r>
              <a:rPr lang="en-IN" sz="1400" dirty="0">
                <a:solidFill>
                  <a:srgbClr val="00B050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>
                    <a:lumMod val="85000"/>
                  </a:schemeClr>
                </a:solidFill>
              </a:rPr>
              <a:t>15% welcome offer, follow-up engagement at Day 7, 30, 60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4117AE-6B96-5F6F-03EA-2C3D0AF18588}"/>
              </a:ext>
            </a:extLst>
          </p:cNvPr>
          <p:cNvSpPr/>
          <p:nvPr/>
        </p:nvSpPr>
        <p:spPr>
          <a:xfrm>
            <a:off x="8480113" y="5564896"/>
            <a:ext cx="3142043" cy="4847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7B6955-1489-068E-69D5-E5EBF17B181B}"/>
              </a:ext>
            </a:extLst>
          </p:cNvPr>
          <p:cNvSpPr txBox="1"/>
          <p:nvPr/>
        </p:nvSpPr>
        <p:spPr>
          <a:xfrm>
            <a:off x="8569563" y="5668757"/>
            <a:ext cx="29949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RECOMMENDED DISCOUNT: 15% Welcome 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635133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A540C8B-E8E9-7B19-704D-26AFC0C19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33" y="1114992"/>
            <a:ext cx="5625802" cy="3321541"/>
          </a:xfrm>
          <a:prstGeom prst="rect">
            <a:avLst/>
          </a:prstGeom>
          <a:noFill/>
          <a:effectLst>
            <a:outerShdw blurRad="280977" dist="38100" dir="5400000" sx="104000" sy="104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B0D02C-9CE3-489F-681D-BFB85468C1B2}"/>
              </a:ext>
            </a:extLst>
          </p:cNvPr>
          <p:cNvSpPr/>
          <p:nvPr/>
        </p:nvSpPr>
        <p:spPr>
          <a:xfrm>
            <a:off x="0" y="0"/>
            <a:ext cx="12192000" cy="98213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BAB18-79B9-6520-EA8C-C0CFA071C7E5}"/>
              </a:ext>
            </a:extLst>
          </p:cNvPr>
          <p:cNvSpPr txBox="1"/>
          <p:nvPr/>
        </p:nvSpPr>
        <p:spPr>
          <a:xfrm>
            <a:off x="321733" y="260233"/>
            <a:ext cx="8015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PAYMENT MODES &amp; UNITS SOLD — CATEGORY DEEP DIVE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F55B2714-359C-8612-F5FB-551E87A73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378" y="1114995"/>
            <a:ext cx="5654889" cy="3321538"/>
          </a:xfrm>
          <a:prstGeom prst="rect">
            <a:avLst/>
          </a:prstGeom>
          <a:noFill/>
          <a:effectLst>
            <a:outerShdw blurRad="280977" dist="38100" dir="5400000" sx="104000" sy="104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79195EC-3B37-F246-2C4B-39D9E3F8AFB4}"/>
              </a:ext>
            </a:extLst>
          </p:cNvPr>
          <p:cNvGrpSpPr/>
          <p:nvPr/>
        </p:nvGrpSpPr>
        <p:grpSpPr>
          <a:xfrm>
            <a:off x="321731" y="4803090"/>
            <a:ext cx="3800015" cy="1776748"/>
            <a:chOff x="321731" y="4821018"/>
            <a:chExt cx="3800015" cy="17588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8B14ED-7EBF-BED2-B7AE-F5736FEBC922}"/>
                </a:ext>
              </a:extLst>
            </p:cNvPr>
            <p:cNvSpPr/>
            <p:nvPr/>
          </p:nvSpPr>
          <p:spPr>
            <a:xfrm>
              <a:off x="321731" y="4821018"/>
              <a:ext cx="3800015" cy="17588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E5708A-E2A4-EECC-538F-5EF5312CFA0D}"/>
                </a:ext>
              </a:extLst>
            </p:cNvPr>
            <p:cNvSpPr/>
            <p:nvPr/>
          </p:nvSpPr>
          <p:spPr>
            <a:xfrm>
              <a:off x="321731" y="4821018"/>
              <a:ext cx="3800015" cy="127500"/>
            </a:xfrm>
            <a:prstGeom prst="rect">
              <a:avLst/>
            </a:prstGeom>
            <a:solidFill>
              <a:srgbClr val="15F0F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3F4A6C-36BD-3C49-DECF-7E49512F55B4}"/>
              </a:ext>
            </a:extLst>
          </p:cNvPr>
          <p:cNvGrpSpPr/>
          <p:nvPr/>
        </p:nvGrpSpPr>
        <p:grpSpPr>
          <a:xfrm>
            <a:off x="4310438" y="4803089"/>
            <a:ext cx="3837891" cy="1776748"/>
            <a:chOff x="4310438" y="4803089"/>
            <a:chExt cx="3837891" cy="177674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E1BC44-9F32-8802-45A8-B79BD377D664}"/>
                </a:ext>
              </a:extLst>
            </p:cNvPr>
            <p:cNvSpPr/>
            <p:nvPr/>
          </p:nvSpPr>
          <p:spPr>
            <a:xfrm>
              <a:off x="4310438" y="4803089"/>
              <a:ext cx="3837891" cy="17767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C4D35AE-E1A1-DB0B-8226-9C40607DD47D}"/>
                </a:ext>
              </a:extLst>
            </p:cNvPr>
            <p:cNvSpPr/>
            <p:nvPr/>
          </p:nvSpPr>
          <p:spPr>
            <a:xfrm>
              <a:off x="4310438" y="4803089"/>
              <a:ext cx="3837890" cy="145429"/>
            </a:xfrm>
            <a:prstGeom prst="rect">
              <a:avLst/>
            </a:prstGeom>
            <a:solidFill>
              <a:srgbClr val="15F0F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AA1680-BCDD-0533-775C-D51946B81F2B}"/>
              </a:ext>
            </a:extLst>
          </p:cNvPr>
          <p:cNvGrpSpPr/>
          <p:nvPr/>
        </p:nvGrpSpPr>
        <p:grpSpPr>
          <a:xfrm>
            <a:off x="8337020" y="4803089"/>
            <a:ext cx="3533249" cy="1758820"/>
            <a:chOff x="8337020" y="4803089"/>
            <a:chExt cx="3533249" cy="175882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5A71BE9-7C17-E4C8-EF07-ED8C498E5F6E}"/>
                </a:ext>
              </a:extLst>
            </p:cNvPr>
            <p:cNvSpPr/>
            <p:nvPr/>
          </p:nvSpPr>
          <p:spPr>
            <a:xfrm>
              <a:off x="8337021" y="4803089"/>
              <a:ext cx="3533248" cy="1758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A8527D-1A6C-CEB5-45BE-D3370EE10689}"/>
                </a:ext>
              </a:extLst>
            </p:cNvPr>
            <p:cNvSpPr/>
            <p:nvPr/>
          </p:nvSpPr>
          <p:spPr>
            <a:xfrm>
              <a:off x="8337020" y="4803089"/>
              <a:ext cx="3533247" cy="145429"/>
            </a:xfrm>
            <a:prstGeom prst="rect">
              <a:avLst/>
            </a:prstGeom>
            <a:solidFill>
              <a:srgbClr val="15F0F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9E70AFE-0311-A438-6005-074178C252F4}"/>
              </a:ext>
            </a:extLst>
          </p:cNvPr>
          <p:cNvSpPr txBox="1"/>
          <p:nvPr/>
        </p:nvSpPr>
        <p:spPr>
          <a:xfrm>
            <a:off x="401227" y="5053429"/>
            <a:ext cx="36197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💳 </a:t>
            </a:r>
            <a:r>
              <a:rPr lang="en-IN" sz="1600" b="1" dirty="0"/>
              <a:t>Card &amp; Digital Dominance (67.37%)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09F35-78BE-76B5-1E70-FFEB19969A24}"/>
              </a:ext>
            </a:extLst>
          </p:cNvPr>
          <p:cNvSpPr txBox="1"/>
          <p:nvPr/>
        </p:nvSpPr>
        <p:spPr>
          <a:xfrm>
            <a:off x="321731" y="5450133"/>
            <a:ext cx="38000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Card and Digital options together drive over two-thirds of total revenue. Partner with top banks for exclusive EMI and cashback offers on high-value purchases.</a:t>
            </a:r>
            <a:endParaRPr lang="en-US" sz="1400" dirty="0"/>
          </a:p>
        </p:txBody>
      </p:sp>
      <p:pic>
        <p:nvPicPr>
          <p:cNvPr id="20" name="Graphic 19" descr="Money with solid fill">
            <a:extLst>
              <a:ext uri="{FF2B5EF4-FFF2-40B4-BE49-F238E27FC236}">
                <a16:creationId xmlns:a16="http://schemas.microsoft.com/office/drawing/2014/main" id="{8C4DECDE-5E41-9E7C-9398-4BBB304D5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5861" y="5091230"/>
            <a:ext cx="314341" cy="31434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15ACFC-E864-449D-220B-85BC766FE5EA}"/>
              </a:ext>
            </a:extLst>
          </p:cNvPr>
          <p:cNvSpPr txBox="1"/>
          <p:nvPr/>
        </p:nvSpPr>
        <p:spPr>
          <a:xfrm>
            <a:off x="4719122" y="5079123"/>
            <a:ext cx="3523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Cash Transition Opportunity (32.63%)</a:t>
            </a:r>
            <a:endParaRPr lang="en-US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14E701-6B65-9D9D-C3E5-E6D090B4643D}"/>
              </a:ext>
            </a:extLst>
          </p:cNvPr>
          <p:cNvSpPr txBox="1"/>
          <p:nvPr/>
        </p:nvSpPr>
        <p:spPr>
          <a:xfrm>
            <a:off x="4310438" y="5450133"/>
            <a:ext cx="38378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Cash transactions represent nearly a third of total sales. Introduce QR-code "Scan &amp; Win" billing incentives to encourage conversion toward digital checkout channels.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63196E-3699-C227-1EC8-6988517B79D8}"/>
              </a:ext>
            </a:extLst>
          </p:cNvPr>
          <p:cNvSpPr txBox="1"/>
          <p:nvPr/>
        </p:nvSpPr>
        <p:spPr>
          <a:xfrm>
            <a:off x="8346717" y="5465770"/>
            <a:ext cx="35235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Shoes lead total sales volume (5,152 units)</a:t>
            </a:r>
            <a:r>
              <a:rPr lang="en-IN" sz="1400" b="1" dirty="0"/>
              <a:t>. </a:t>
            </a:r>
            <a:r>
              <a:rPr lang="en-IN" sz="1400" dirty="0"/>
              <a:t>Maintain continuous replenishment cycles and size/style availability for top SKUs.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A433F0-4A96-B07A-39EC-DB5E54BE8580}"/>
              </a:ext>
            </a:extLst>
          </p:cNvPr>
          <p:cNvSpPr txBox="1"/>
          <p:nvPr/>
        </p:nvSpPr>
        <p:spPr>
          <a:xfrm>
            <a:off x="8337018" y="5091230"/>
            <a:ext cx="3523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👟 </a:t>
            </a:r>
            <a:r>
              <a:rPr lang="en-IN" sz="1600" b="1" dirty="0"/>
              <a:t>Balanced Volume Across Categories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09940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1E136-A42E-55F6-9BB6-91571D0D16EC}"/>
              </a:ext>
            </a:extLst>
          </p:cNvPr>
          <p:cNvSpPr/>
          <p:nvPr/>
        </p:nvSpPr>
        <p:spPr>
          <a:xfrm>
            <a:off x="0" y="1"/>
            <a:ext cx="12192000" cy="96252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7E88F-C0BC-9AFE-2F32-B6278357811D}"/>
              </a:ext>
            </a:extLst>
          </p:cNvPr>
          <p:cNvSpPr txBox="1"/>
          <p:nvPr/>
        </p:nvSpPr>
        <p:spPr>
          <a:xfrm>
            <a:off x="450123" y="250431"/>
            <a:ext cx="6257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STRATEGIC   RECOMMENDATIONS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D5A820-A584-43B6-FF4F-436DAC1546A9}"/>
              </a:ext>
            </a:extLst>
          </p:cNvPr>
          <p:cNvSpPr/>
          <p:nvPr/>
        </p:nvSpPr>
        <p:spPr>
          <a:xfrm>
            <a:off x="264696" y="1090864"/>
            <a:ext cx="5678905" cy="641684"/>
          </a:xfrm>
          <a:prstGeom prst="rect">
            <a:avLst/>
          </a:prstGeom>
          <a:solidFill>
            <a:srgbClr val="2F8347"/>
          </a:solidFill>
          <a:ln>
            <a:solidFill>
              <a:srgbClr val="2F8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BDAE7D-5C5F-7DAA-C4A6-AA149D44F6DF}"/>
              </a:ext>
            </a:extLst>
          </p:cNvPr>
          <p:cNvSpPr/>
          <p:nvPr/>
        </p:nvSpPr>
        <p:spPr>
          <a:xfrm>
            <a:off x="6248399" y="1090864"/>
            <a:ext cx="5678905" cy="641684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77911F-2801-9C30-0C10-6E9F7A635420}"/>
              </a:ext>
            </a:extLst>
          </p:cNvPr>
          <p:cNvSpPr/>
          <p:nvPr/>
        </p:nvSpPr>
        <p:spPr>
          <a:xfrm>
            <a:off x="264696" y="1910615"/>
            <a:ext cx="5678904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7D7BA-0904-C02F-04E0-71312279673E}"/>
              </a:ext>
            </a:extLst>
          </p:cNvPr>
          <p:cNvSpPr/>
          <p:nvPr/>
        </p:nvSpPr>
        <p:spPr>
          <a:xfrm>
            <a:off x="264696" y="2874745"/>
            <a:ext cx="5678904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184421-3E0F-3F09-F5DC-08D4E278CFB0}"/>
              </a:ext>
            </a:extLst>
          </p:cNvPr>
          <p:cNvSpPr/>
          <p:nvPr/>
        </p:nvSpPr>
        <p:spPr>
          <a:xfrm>
            <a:off x="244644" y="3838875"/>
            <a:ext cx="5678904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5A602-E0CA-488B-8D32-6F3820E155E3}"/>
              </a:ext>
            </a:extLst>
          </p:cNvPr>
          <p:cNvSpPr/>
          <p:nvPr/>
        </p:nvSpPr>
        <p:spPr>
          <a:xfrm>
            <a:off x="264696" y="4803005"/>
            <a:ext cx="5678904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6E772B-DF63-ACF4-3172-3A763400B76B}"/>
              </a:ext>
            </a:extLst>
          </p:cNvPr>
          <p:cNvSpPr/>
          <p:nvPr/>
        </p:nvSpPr>
        <p:spPr>
          <a:xfrm>
            <a:off x="264696" y="5767136"/>
            <a:ext cx="5698956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369AA4-DC54-6DCB-79E4-3E760D648B91}"/>
              </a:ext>
            </a:extLst>
          </p:cNvPr>
          <p:cNvSpPr/>
          <p:nvPr/>
        </p:nvSpPr>
        <p:spPr>
          <a:xfrm>
            <a:off x="6248400" y="1910614"/>
            <a:ext cx="5678904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16A88E-FC91-B681-55A1-A462191CC4E2}"/>
              </a:ext>
            </a:extLst>
          </p:cNvPr>
          <p:cNvSpPr/>
          <p:nvPr/>
        </p:nvSpPr>
        <p:spPr>
          <a:xfrm>
            <a:off x="6248400" y="2860306"/>
            <a:ext cx="5678904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49FED-6254-96AC-A13B-A535C2E29A03}"/>
              </a:ext>
            </a:extLst>
          </p:cNvPr>
          <p:cNvSpPr/>
          <p:nvPr/>
        </p:nvSpPr>
        <p:spPr>
          <a:xfrm>
            <a:off x="6224337" y="3838875"/>
            <a:ext cx="5723019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657FA8-11C6-97BA-676B-7D7186CFBC00}"/>
              </a:ext>
            </a:extLst>
          </p:cNvPr>
          <p:cNvSpPr/>
          <p:nvPr/>
        </p:nvSpPr>
        <p:spPr>
          <a:xfrm>
            <a:off x="6248400" y="4809417"/>
            <a:ext cx="5678904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F4C509-2BE4-C326-3A4B-F815AEA0C9A4}"/>
              </a:ext>
            </a:extLst>
          </p:cNvPr>
          <p:cNvSpPr/>
          <p:nvPr/>
        </p:nvSpPr>
        <p:spPr>
          <a:xfrm>
            <a:off x="6248400" y="5767136"/>
            <a:ext cx="5698956" cy="7860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A38328-30AE-7036-86E9-37F6896A785E}"/>
              </a:ext>
            </a:extLst>
          </p:cNvPr>
          <p:cNvSpPr/>
          <p:nvPr/>
        </p:nvSpPr>
        <p:spPr>
          <a:xfrm>
            <a:off x="264696" y="1910614"/>
            <a:ext cx="185427" cy="786063"/>
          </a:xfrm>
          <a:prstGeom prst="rect">
            <a:avLst/>
          </a:prstGeom>
          <a:solidFill>
            <a:srgbClr val="2F83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4C1660-A1C8-9D61-2932-867281783E2B}"/>
              </a:ext>
            </a:extLst>
          </p:cNvPr>
          <p:cNvSpPr/>
          <p:nvPr/>
        </p:nvSpPr>
        <p:spPr>
          <a:xfrm>
            <a:off x="264696" y="2874745"/>
            <a:ext cx="185427" cy="771624"/>
          </a:xfrm>
          <a:prstGeom prst="rect">
            <a:avLst/>
          </a:prstGeom>
          <a:solidFill>
            <a:srgbClr val="2F83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D22F65-8634-D625-7979-EF8D70CFCC0D}"/>
              </a:ext>
            </a:extLst>
          </p:cNvPr>
          <p:cNvSpPr/>
          <p:nvPr/>
        </p:nvSpPr>
        <p:spPr>
          <a:xfrm>
            <a:off x="264696" y="3838875"/>
            <a:ext cx="185427" cy="786063"/>
          </a:xfrm>
          <a:prstGeom prst="rect">
            <a:avLst/>
          </a:prstGeom>
          <a:solidFill>
            <a:srgbClr val="2F83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98D720-475C-0EEB-F6FF-1D39F7A5C4B4}"/>
              </a:ext>
            </a:extLst>
          </p:cNvPr>
          <p:cNvSpPr/>
          <p:nvPr/>
        </p:nvSpPr>
        <p:spPr>
          <a:xfrm>
            <a:off x="264696" y="4803005"/>
            <a:ext cx="185427" cy="786063"/>
          </a:xfrm>
          <a:prstGeom prst="rect">
            <a:avLst/>
          </a:prstGeom>
          <a:solidFill>
            <a:srgbClr val="2F83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EB3FCB-26E3-6FE7-E5E6-9CE1101DDFCD}"/>
              </a:ext>
            </a:extLst>
          </p:cNvPr>
          <p:cNvSpPr/>
          <p:nvPr/>
        </p:nvSpPr>
        <p:spPr>
          <a:xfrm>
            <a:off x="264696" y="5767136"/>
            <a:ext cx="185427" cy="786063"/>
          </a:xfrm>
          <a:prstGeom prst="rect">
            <a:avLst/>
          </a:prstGeom>
          <a:solidFill>
            <a:srgbClr val="2F83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7C19F0-22C1-8A6A-45D1-7D1F390FA874}"/>
              </a:ext>
            </a:extLst>
          </p:cNvPr>
          <p:cNvSpPr/>
          <p:nvPr/>
        </p:nvSpPr>
        <p:spPr>
          <a:xfrm>
            <a:off x="6248399" y="1910614"/>
            <a:ext cx="202055" cy="7860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16D265-D915-E783-69EB-7D6852182ABE}"/>
              </a:ext>
            </a:extLst>
          </p:cNvPr>
          <p:cNvSpPr/>
          <p:nvPr/>
        </p:nvSpPr>
        <p:spPr>
          <a:xfrm>
            <a:off x="6248399" y="2874745"/>
            <a:ext cx="184485" cy="7716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F10B04-86AA-A839-74F9-48DD366C0B29}"/>
              </a:ext>
            </a:extLst>
          </p:cNvPr>
          <p:cNvSpPr/>
          <p:nvPr/>
        </p:nvSpPr>
        <p:spPr>
          <a:xfrm>
            <a:off x="6224337" y="3838875"/>
            <a:ext cx="210839" cy="7860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25EBD0-9810-4AB9-CC98-D6B1E5076A4A}"/>
              </a:ext>
            </a:extLst>
          </p:cNvPr>
          <p:cNvSpPr/>
          <p:nvPr/>
        </p:nvSpPr>
        <p:spPr>
          <a:xfrm>
            <a:off x="6248399" y="4803005"/>
            <a:ext cx="184485" cy="7860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45E687-17F2-6FB6-DC4D-E48EA0FE369A}"/>
              </a:ext>
            </a:extLst>
          </p:cNvPr>
          <p:cNvSpPr/>
          <p:nvPr/>
        </p:nvSpPr>
        <p:spPr>
          <a:xfrm>
            <a:off x="6248399" y="5767136"/>
            <a:ext cx="184485" cy="7860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5D058C6-4C2B-8D64-787B-D5BCA6A5A731}"/>
              </a:ext>
            </a:extLst>
          </p:cNvPr>
          <p:cNvGrpSpPr/>
          <p:nvPr/>
        </p:nvGrpSpPr>
        <p:grpSpPr>
          <a:xfrm>
            <a:off x="1379621" y="1203297"/>
            <a:ext cx="3679389" cy="385855"/>
            <a:chOff x="1379621" y="1203297"/>
            <a:chExt cx="3679389" cy="385855"/>
          </a:xfrm>
        </p:grpSpPr>
        <p:pic>
          <p:nvPicPr>
            <p:cNvPr id="30" name="Graphic 29" descr="Lightning bolt with solid fill">
              <a:extLst>
                <a:ext uri="{FF2B5EF4-FFF2-40B4-BE49-F238E27FC236}">
                  <a16:creationId xmlns:a16="http://schemas.microsoft.com/office/drawing/2014/main" id="{DD7C2729-8034-01F2-B436-53BAD4AE9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79621" y="1219820"/>
              <a:ext cx="369332" cy="369332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3C2DD4-8B80-0074-5B7D-8F12D6D9F6D0}"/>
                </a:ext>
              </a:extLst>
            </p:cNvPr>
            <p:cNvSpPr txBox="1"/>
            <p:nvPr/>
          </p:nvSpPr>
          <p:spPr>
            <a:xfrm>
              <a:off x="1641162" y="1203297"/>
              <a:ext cx="3417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QUICK WINS (0–3 months)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6BCF7C4-C330-9E15-00A6-B8985A29DF7A}"/>
              </a:ext>
            </a:extLst>
          </p:cNvPr>
          <p:cNvGrpSpPr/>
          <p:nvPr/>
        </p:nvGrpSpPr>
        <p:grpSpPr>
          <a:xfrm>
            <a:off x="7513452" y="1219820"/>
            <a:ext cx="3405032" cy="376552"/>
            <a:chOff x="7513452" y="1219820"/>
            <a:chExt cx="3405032" cy="376552"/>
          </a:xfrm>
        </p:grpSpPr>
        <p:pic>
          <p:nvPicPr>
            <p:cNvPr id="32" name="Graphic 31" descr="Rocket with solid fill">
              <a:extLst>
                <a:ext uri="{FF2B5EF4-FFF2-40B4-BE49-F238E27FC236}">
                  <a16:creationId xmlns:a16="http://schemas.microsoft.com/office/drawing/2014/main" id="{718A7C6C-7049-45BE-0217-E6FF52E2A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13452" y="1219820"/>
              <a:ext cx="374904" cy="37490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EF3EC28-26FD-1B73-71E2-D06A035600FF}"/>
                </a:ext>
              </a:extLst>
            </p:cNvPr>
            <p:cNvSpPr txBox="1"/>
            <p:nvPr/>
          </p:nvSpPr>
          <p:spPr>
            <a:xfrm>
              <a:off x="7842062" y="1227040"/>
              <a:ext cx="30764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solidFill>
                    <a:schemeClr val="bg1"/>
                  </a:solidFill>
                </a:rPr>
                <a:t>LONG-TERM (3–12 months)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FFE70C6-2A55-9A4A-A534-0F2CCA0502E3}"/>
              </a:ext>
            </a:extLst>
          </p:cNvPr>
          <p:cNvSpPr txBox="1"/>
          <p:nvPr/>
        </p:nvSpPr>
        <p:spPr>
          <a:xfrm>
            <a:off x="568259" y="1910614"/>
            <a:ext cx="5355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Launch "Weekend Flash Sale" every Saturday 11am–2pm with 10% extra on trending items.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609B94-5EB9-56A2-8CDB-0ED7C56C947B}"/>
              </a:ext>
            </a:extLst>
          </p:cNvPr>
          <p:cNvSpPr txBox="1"/>
          <p:nvPr/>
        </p:nvSpPr>
        <p:spPr>
          <a:xfrm>
            <a:off x="548205" y="2889185"/>
            <a:ext cx="53753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WhatsApp + SMS campaigns Thu/Fri to drive weekend footfall across 50 stores.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7D8DB19-3EA6-B292-B0D3-1060E410716A}"/>
              </a:ext>
            </a:extLst>
          </p:cNvPr>
          <p:cNvSpPr txBox="1"/>
          <p:nvPr/>
        </p:nvSpPr>
        <p:spPr>
          <a:xfrm>
            <a:off x="548205" y="3855082"/>
            <a:ext cx="5375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Introduce "FashionWave Gold" loyalty points: 2x on weekends and festive season.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F56ABD-429C-112C-BDB2-C7DA74C8A0F0}"/>
              </a:ext>
            </a:extLst>
          </p:cNvPr>
          <p:cNvSpPr txBox="1"/>
          <p:nvPr/>
        </p:nvSpPr>
        <p:spPr>
          <a:xfrm>
            <a:off x="568259" y="4842202"/>
            <a:ext cx="5355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Cap Shoes discounts at 15% to recover lost margin (currently high discount segment).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96440A-3953-C4BD-E787-FB6780217E29}"/>
              </a:ext>
            </a:extLst>
          </p:cNvPr>
          <p:cNvSpPr txBox="1"/>
          <p:nvPr/>
        </p:nvSpPr>
        <p:spPr>
          <a:xfrm>
            <a:off x="568258" y="5780879"/>
            <a:ext cx="5355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Give bottom-10 stores targeted ad budget for hyperlocal Google/Meta ads.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4C220B-FF1F-0305-DE0C-440D179B1ED6}"/>
              </a:ext>
            </a:extLst>
          </p:cNvPr>
          <p:cNvSpPr txBox="1"/>
          <p:nvPr/>
        </p:nvSpPr>
        <p:spPr>
          <a:xfrm>
            <a:off x="6560158" y="1934672"/>
            <a:ext cx="5350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Build a real-time Power BI dashboard tracking KPIs by store, category, daily.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A52640-D620-A305-C090-194F7715D9B9}"/>
              </a:ext>
            </a:extLst>
          </p:cNvPr>
          <p:cNvSpPr txBox="1"/>
          <p:nvPr/>
        </p:nvSpPr>
        <p:spPr>
          <a:xfrm>
            <a:off x="6577263" y="2877482"/>
            <a:ext cx="5173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Deploy AI-based replenishment: predict stock needs 4–6 weeks in advance.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15604B-6C98-DD7E-E664-9C97F12034E3}"/>
              </a:ext>
            </a:extLst>
          </p:cNvPr>
          <p:cNvSpPr txBox="1"/>
          <p:nvPr/>
        </p:nvSpPr>
        <p:spPr>
          <a:xfrm>
            <a:off x="6560158" y="3823528"/>
            <a:ext cx="5008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Bank partnership for 0% EMI on ₹3,000+ purchases — drives AOV uplift.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0B0538-C854-3334-5B28-07365FDD730A}"/>
              </a:ext>
            </a:extLst>
          </p:cNvPr>
          <p:cNvSpPr txBox="1"/>
          <p:nvPr/>
        </p:nvSpPr>
        <p:spPr>
          <a:xfrm>
            <a:off x="6577263" y="4796410"/>
            <a:ext cx="5185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Expand Accessories online (highest margin category) via own app + Myntra/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Ajio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AAB5DA-7EA0-DA9B-AF5F-CE8E494B6D38}"/>
              </a:ext>
            </a:extLst>
          </p:cNvPr>
          <p:cNvSpPr txBox="1"/>
          <p:nvPr/>
        </p:nvSpPr>
        <p:spPr>
          <a:xfrm>
            <a:off x="6577263" y="5752696"/>
            <a:ext cx="5055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Store manager quarterly performance reviews with P&amp;L accountability per store.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27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35E2-E0BE-13AD-D2CF-5E8D530D826C}"/>
              </a:ext>
            </a:extLst>
          </p:cNvPr>
          <p:cNvSpPr txBox="1">
            <a:spLocks/>
          </p:cNvSpPr>
          <p:nvPr/>
        </p:nvSpPr>
        <p:spPr>
          <a:xfrm>
            <a:off x="2599655" y="874778"/>
            <a:ext cx="4310743" cy="461653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C900"/>
                </a:solidFill>
                <a:latin typeface="Avenir Next" panose="020B0503020202020204" pitchFamily="34" charset="0"/>
              </a:rPr>
              <a:t>FASHIONWAVE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5CDE9B-0DB1-DC38-C4EA-72D1EF0CD9FC}"/>
              </a:ext>
            </a:extLst>
          </p:cNvPr>
          <p:cNvSpPr/>
          <p:nvPr/>
        </p:nvSpPr>
        <p:spPr>
          <a:xfrm>
            <a:off x="760020" y="707039"/>
            <a:ext cx="1615045" cy="125878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Arial Rounded MT Bold" panose="020F0704030504030204" pitchFamily="34" charset="77"/>
              </a:rPr>
              <a:t>FW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3D88B-E8F9-33F9-CB34-6543E987CDA4}"/>
              </a:ext>
            </a:extLst>
          </p:cNvPr>
          <p:cNvSpPr txBox="1"/>
          <p:nvPr/>
        </p:nvSpPr>
        <p:spPr>
          <a:xfrm>
            <a:off x="4467055" y="2625642"/>
            <a:ext cx="30159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B1B38-8F29-A706-B92B-A6AE34C9B725}"/>
              </a:ext>
            </a:extLst>
          </p:cNvPr>
          <p:cNvSpPr txBox="1"/>
          <p:nvPr/>
        </p:nvSpPr>
        <p:spPr>
          <a:xfrm>
            <a:off x="4171475" y="3333528"/>
            <a:ext cx="4892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Prepared by: Aditya Tripathi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276DED-1938-218A-18B2-84E673332A76}"/>
              </a:ext>
            </a:extLst>
          </p:cNvPr>
          <p:cNvSpPr/>
          <p:nvPr/>
        </p:nvSpPr>
        <p:spPr>
          <a:xfrm>
            <a:off x="711975" y="4622740"/>
            <a:ext cx="2479808" cy="1393193"/>
          </a:xfrm>
          <a:prstGeom prst="rect">
            <a:avLst/>
          </a:prstGeom>
          <a:solidFill>
            <a:schemeClr val="accent4">
              <a:lumMod val="60000"/>
              <a:lumOff val="40000"/>
              <a:alpha val="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b" anchorCtr="1"/>
          <a:lstStyle/>
          <a:p>
            <a:pPr algn="ctr"/>
            <a:r>
              <a:rPr lang="en-IN" sz="2400" b="1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₹2.13 Cr</a:t>
            </a:r>
          </a:p>
          <a:p>
            <a:pPr algn="ctr"/>
            <a:r>
              <a:rPr lang="en-IN" sz="1400" b="1" i="0" dirty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Total Revenue</a:t>
            </a:r>
          </a:p>
          <a:p>
            <a:pPr algn="ctr"/>
            <a:endParaRPr lang="en-IN" sz="2400" b="1" dirty="0">
              <a:solidFill>
                <a:srgbClr val="FFC000"/>
              </a:solidFill>
              <a:highlight>
                <a:srgbClr val="FFC900"/>
              </a:highlight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41E2D3-672F-A81E-A13F-D7E483578D7F}"/>
              </a:ext>
            </a:extLst>
          </p:cNvPr>
          <p:cNvSpPr/>
          <p:nvPr/>
        </p:nvSpPr>
        <p:spPr>
          <a:xfrm>
            <a:off x="3644631" y="4640873"/>
            <a:ext cx="2256995" cy="1393193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85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  <a:gs pos="100000">
                <a:srgbClr val="7030A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216000" rtlCol="0" anchor="ctr" anchorCtr="1"/>
          <a:lstStyle/>
          <a:p>
            <a:pPr algn="ctr"/>
            <a:r>
              <a:rPr lang="en-IN" sz="2400" b="1" dirty="0">
                <a:solidFill>
                  <a:srgbClr val="FFC000"/>
                </a:solidFill>
                <a:latin typeface="Arial" panose="020B0604020202020204" pitchFamily="34" charset="0"/>
              </a:rPr>
              <a:t>₹56.58 Lakh</a:t>
            </a:r>
          </a:p>
          <a:p>
            <a:pPr algn="ctr"/>
            <a:r>
              <a:rPr lang="en-IN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Profit Generated</a:t>
            </a:r>
            <a:endParaRPr lang="en-US" sz="14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45B08F-CFA5-152B-34BA-D176FE82328D}"/>
              </a:ext>
            </a:extLst>
          </p:cNvPr>
          <p:cNvSpPr/>
          <p:nvPr/>
        </p:nvSpPr>
        <p:spPr>
          <a:xfrm>
            <a:off x="6354474" y="4659006"/>
            <a:ext cx="2256995" cy="1380886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85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  <a:gs pos="100000">
                <a:srgbClr val="7030A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216000" rtlCol="0" anchor="ctr" anchorCtr="1"/>
          <a:lstStyle/>
          <a:p>
            <a:pPr algn="ctr"/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</a:rPr>
              <a:t>26.57%</a:t>
            </a:r>
          </a:p>
          <a:p>
            <a:pPr algn="ctr"/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Overall Profit Margin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DFCE4A-F152-182A-BF03-83F48C24AA67}"/>
              </a:ext>
            </a:extLst>
          </p:cNvPr>
          <p:cNvSpPr/>
          <p:nvPr/>
        </p:nvSpPr>
        <p:spPr>
          <a:xfrm>
            <a:off x="9064317" y="4664832"/>
            <a:ext cx="2226074" cy="1380886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  <a:alpha val="0"/>
                </a:schemeClr>
              </a:gs>
              <a:gs pos="100000">
                <a:schemeClr val="accent1">
                  <a:lumMod val="85000"/>
                  <a:alpha val="0"/>
                </a:schemeClr>
              </a:gs>
              <a:gs pos="100000">
                <a:schemeClr val="accent1">
                  <a:lumMod val="50000"/>
                </a:schemeClr>
              </a:gs>
              <a:gs pos="100000">
                <a:srgbClr val="7030A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216000" rtlCol="0" anchor="ctr" anchorCtr="1"/>
          <a:lstStyle/>
          <a:p>
            <a:pPr algn="ctr"/>
            <a:r>
              <a:rPr lang="en-IN" sz="2400" b="1" dirty="0">
                <a:solidFill>
                  <a:srgbClr val="FFC000"/>
                </a:solidFill>
                <a:latin typeface="Arial" panose="020B0604020202020204" pitchFamily="34" charset="0"/>
              </a:rPr>
              <a:t>50 Stores  </a:t>
            </a:r>
            <a:r>
              <a:rPr lang="en-IN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Stores Covered</a:t>
            </a:r>
            <a:endParaRPr lang="en-US" sz="1400" b="1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1324</TotalTime>
  <Words>1194</Words>
  <Application>Microsoft Macintosh PowerPoint</Application>
  <PresentationFormat>Widescreen</PresentationFormat>
  <Paragraphs>149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Arial Rounded MT Bold</vt:lpstr>
      <vt:lpstr>Avenir Next</vt:lpstr>
      <vt:lpstr>Baloo Bhaijaan</vt:lpstr>
      <vt:lpstr>Baloo Bhaina 2</vt:lpstr>
      <vt:lpstr>Baloo Bhaina 2 SemiBold</vt:lpstr>
      <vt:lpstr>Calibri</vt:lpstr>
      <vt:lpstr>Calibri Light</vt:lpstr>
      <vt:lpstr>Calisto MT</vt:lpstr>
      <vt:lpstr>Google Sans Text</vt:lpstr>
      <vt:lpstr>Office Theme</vt:lpstr>
      <vt:lpstr>FASHIONWAVE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FASHION WAVE</dc:title>
  <dc:creator>Microsoft Office User</dc:creator>
  <cp:lastModifiedBy>Microsoft Office User</cp:lastModifiedBy>
  <cp:revision>18</cp:revision>
  <dcterms:created xsi:type="dcterms:W3CDTF">2026-07-30T10:29:26Z</dcterms:created>
  <dcterms:modified xsi:type="dcterms:W3CDTF">2026-08-25T12:09:26Z</dcterms:modified>
</cp:coreProperties>
</file>